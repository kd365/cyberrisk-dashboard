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0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BB6226-73CE-394C-9887-67E02E0AE664}">
          <p14:sldIdLst>
            <p14:sldId id="256"/>
            <p14:sldId id="257"/>
            <p14:sldId id="258"/>
            <p14:sldId id="262"/>
            <p14:sldId id="263"/>
            <p14:sldId id="264"/>
            <p14:sldId id="259"/>
            <p14:sldId id="260"/>
          </p14:sldIdLst>
        </p14:section>
        <p14:section name="Backup" id="{280FB93E-A8F8-FB4D-853F-71220A454B2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D3ECFD"/>
    <a:srgbClr val="092154"/>
    <a:srgbClr val="0C3076"/>
    <a:srgbClr val="3E0B55"/>
    <a:srgbClr val="102F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07"/>
    <p:restoredTop sz="91458"/>
  </p:normalViewPr>
  <p:slideViewPr>
    <p:cSldViewPr snapToGrid="0">
      <p:cViewPr varScale="1">
        <p:scale>
          <a:sx n="48" d="100"/>
          <a:sy n="48" d="100"/>
        </p:scale>
        <p:origin x="11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1782C-0680-0744-A2BE-FD0C61282A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8A3F1-E56E-D048-8112-E62F0959C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14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 Gateway is for private subnet egress and acknowledge it's the biggest cost driver (~$32/month), not currently used as the Lambda directly accesses the EC2 within the VPC.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 → EC2 (for API calls like 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/forecast)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arrow from Lambda → RDS (for direct database queries)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 up to allow load balancer or an auto scaling group with additional public subnet, but not needed for this presentation.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8A3F1-E56E-D048-8112-E62F0959C9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21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0.png"/><Relationship Id="rId21" Type="http://schemas.openxmlformats.org/officeDocument/2006/relationships/image" Target="../media/image23.svg"/><Relationship Id="rId34" Type="http://schemas.openxmlformats.org/officeDocument/2006/relationships/hyperlink" Target="https://www.flaticon.com/free-icons/api" TargetMode="External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sv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8.svg"/><Relationship Id="rId40" Type="http://schemas.openxmlformats.org/officeDocument/2006/relationships/image" Target="../media/image41.sv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36" Type="http://schemas.openxmlformats.org/officeDocument/2006/relationships/image" Target="../media/image37.png"/><Relationship Id="rId10" Type="http://schemas.openxmlformats.org/officeDocument/2006/relationships/image" Target="../media/image12.svg"/><Relationship Id="rId19" Type="http://schemas.openxmlformats.org/officeDocument/2006/relationships/image" Target="../media/image21.svg"/><Relationship Id="rId31" Type="http://schemas.openxmlformats.org/officeDocument/2006/relationships/image" Target="../media/image33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Relationship Id="rId22" Type="http://schemas.openxmlformats.org/officeDocument/2006/relationships/image" Target="../media/image24.png"/><Relationship Id="rId27" Type="http://schemas.openxmlformats.org/officeDocument/2006/relationships/image" Target="../media/image29.svg"/><Relationship Id="rId30" Type="http://schemas.openxmlformats.org/officeDocument/2006/relationships/image" Target="../media/image32.png"/><Relationship Id="rId35" Type="http://schemas.openxmlformats.org/officeDocument/2006/relationships/image" Target="../media/image36.png"/><Relationship Id="rId8" Type="http://schemas.openxmlformats.org/officeDocument/2006/relationships/image" Target="../media/image10.svg"/><Relationship Id="rId3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83926-761C-3683-EB88-1502A2771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DevSecOps Application Deployment with AWS AI Integration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7F9FD7-C303-B9C7-F5D5-63DFE660C6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Developed by Kathleen Hill</a:t>
            </a:r>
          </a:p>
          <a:p>
            <a:r>
              <a:rPr lang="en-US" dirty="0"/>
              <a:t>*Using </a:t>
            </a:r>
            <a:r>
              <a:rPr lang="en-US" dirty="0" err="1"/>
              <a:t>VSCode</a:t>
            </a:r>
            <a:r>
              <a:rPr lang="en-US" dirty="0"/>
              <a:t> Claude Code Integration</a:t>
            </a:r>
          </a:p>
        </p:txBody>
      </p:sp>
    </p:spTree>
    <p:extLst>
      <p:ext uri="{BB962C8B-B14F-4D97-AF65-F5344CB8AC3E}">
        <p14:creationId xmlns:p14="http://schemas.microsoft.com/office/powerpoint/2010/main" val="3820103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95453-1357-1EEE-BBAD-2C49A94E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9033" y="1169184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Overview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13EF38E-A871-E8B1-1C96-32D1C2DA83E7}"/>
              </a:ext>
            </a:extLst>
          </p:cNvPr>
          <p:cNvSpPr/>
          <p:nvPr/>
        </p:nvSpPr>
        <p:spPr>
          <a:xfrm>
            <a:off x="4578290" y="1531075"/>
            <a:ext cx="166334" cy="3795849"/>
          </a:xfrm>
          <a:prstGeom prst="rect">
            <a:avLst/>
          </a:prstGeom>
          <a:gradFill>
            <a:gsLst>
              <a:gs pos="0">
                <a:srgbClr val="3E0B55"/>
              </a:gs>
              <a:gs pos="100000">
                <a:srgbClr val="0C307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8F0B-1CA2-490B-140A-5E99D76B3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334" y="1057829"/>
            <a:ext cx="6789685" cy="5371040"/>
          </a:xfrm>
        </p:spPr>
        <p:txBody>
          <a:bodyPr numCol="2">
            <a:normAutofit/>
          </a:bodyPr>
          <a:lstStyle/>
          <a:p>
            <a:pPr>
              <a:buClr>
                <a:schemeClr val="accent1">
                  <a:lumMod val="20000"/>
                  <a:lumOff val="80000"/>
                </a:schemeClr>
              </a:buClr>
              <a:buFont typeface="Wingdings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PURPOSE</a:t>
            </a:r>
          </a:p>
          <a:p>
            <a:pPr marL="0" indent="0">
              <a:buClr>
                <a:schemeClr val="accent1">
                  <a:lumMod val="20000"/>
                  <a:lumOff val="80000"/>
                </a:schemeClr>
              </a:buClr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solution to review open-source information to track performance of Cyber-Security Related Companies</a:t>
            </a:r>
          </a:p>
          <a:p>
            <a:pPr marL="0" indent="0">
              <a:buClr>
                <a:schemeClr val="accent1">
                  <a:lumMod val="20000"/>
                  <a:lumOff val="80000"/>
                </a:schemeClr>
              </a:buClr>
              <a:buNone/>
            </a:pPr>
            <a:endParaRPr lang="en-US" dirty="0">
              <a:solidFill>
                <a:schemeClr val="tx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1">
                  <a:lumMod val="20000"/>
                  <a:lumOff val="80000"/>
                </a:schemeClr>
              </a:buClr>
              <a:buFont typeface="Wingdings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APPLICATION COMPONENTS</a:t>
            </a:r>
          </a:p>
          <a:p>
            <a:pPr marL="0" indent="0">
              <a:buClr>
                <a:schemeClr val="accent1">
                  <a:lumMod val="20000"/>
                  <a:lumOff val="80000"/>
                </a:schemeClr>
              </a:buClr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Scraping (SEC Filings, Earnings Transcripts), Profit Reporting and Forecasting, Sentiment Analysis, and AI Assistant</a:t>
            </a:r>
          </a:p>
          <a:p>
            <a:pPr>
              <a:buClr>
                <a:schemeClr val="accent1">
                  <a:lumMod val="20000"/>
                  <a:lumOff val="80000"/>
                </a:schemeClr>
              </a:buCl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630A98-07A7-47FD-31F1-979C0ECE587B}"/>
              </a:ext>
            </a:extLst>
          </p:cNvPr>
          <p:cNvSpPr txBox="1">
            <a:spLocks/>
          </p:cNvSpPr>
          <p:nvPr/>
        </p:nvSpPr>
        <p:spPr>
          <a:xfrm>
            <a:off x="7841936" y="985640"/>
            <a:ext cx="4101883" cy="5752041"/>
          </a:xfrm>
          <a:prstGeom prst="rect">
            <a:avLst/>
          </a:prstGeom>
        </p:spPr>
        <p:txBody>
          <a:bodyPr vert="horz" lIns="91440" tIns="45720" rIns="91440" bIns="45720" numCol="1" rtlCol="0" anchor="t" anchorCtr="0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>
                  <a:lumMod val="20000"/>
                  <a:lumOff val="80000"/>
                </a:schemeClr>
              </a:buClr>
            </a:pPr>
            <a:endParaRPr lang="en-US" dirty="0"/>
          </a:p>
          <a:p>
            <a:pPr>
              <a:buClr>
                <a:schemeClr val="accent1">
                  <a:lumMod val="20000"/>
                  <a:lumOff val="80000"/>
                </a:schemeClr>
              </a:buClr>
              <a:buFont typeface="Wingdings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AWS SERVICES</a:t>
            </a:r>
          </a:p>
          <a:p>
            <a:pPr marL="0" indent="0">
              <a:buClr>
                <a:schemeClr val="accent1">
                  <a:lumMod val="20000"/>
                  <a:lumOff val="80000"/>
                </a:schemeClr>
              </a:buClr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Analysis: AWS Comprehend</a:t>
            </a:r>
          </a:p>
          <a:p>
            <a:pPr marL="0" indent="0">
              <a:buClr>
                <a:schemeClr val="accent1">
                  <a:lumMod val="20000"/>
                  <a:lumOff val="80000"/>
                </a:schemeClr>
              </a:buClr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Assistant: AWS Lex</a:t>
            </a:r>
          </a:p>
          <a:p>
            <a:pPr>
              <a:buClr>
                <a:schemeClr val="accent1">
                  <a:lumMod val="20000"/>
                  <a:lumOff val="80000"/>
                </a:schemeClr>
              </a:buClr>
            </a:pPr>
            <a:endParaRPr lang="en-US" dirty="0"/>
          </a:p>
          <a:p>
            <a:pPr>
              <a:buClr>
                <a:schemeClr val="accent1">
                  <a:lumMod val="20000"/>
                  <a:lumOff val="80000"/>
                </a:schemeClr>
              </a:buClr>
              <a:buFont typeface="Wingdings" pitchFamily="2" charset="2"/>
              <a:buChar char="q"/>
            </a:pPr>
            <a:r>
              <a:rPr lang="en-US" dirty="0"/>
              <a:t>DEPLOYMENT DETAILS</a:t>
            </a:r>
          </a:p>
          <a:p>
            <a:pPr marL="0" indent="0">
              <a:buClr>
                <a:schemeClr val="accent1">
                  <a:lumMod val="20000"/>
                  <a:lumOff val="80000"/>
                </a:schemeClr>
              </a:buClr>
              <a:buFont typeface="Arial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Model Development required provisioning based on maximizing RAM utility through the use of only 2 workers, and implementing a Provisioned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Concurrance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  </a:t>
            </a:r>
          </a:p>
          <a:p>
            <a:pPr>
              <a:buClr>
                <a:schemeClr val="accent1">
                  <a:lumMod val="20000"/>
                  <a:lumOff val="80000"/>
                </a:schemeClr>
              </a:buClr>
            </a:pPr>
            <a:endParaRPr lang="en-US" dirty="0"/>
          </a:p>
          <a:p>
            <a:pPr>
              <a:buClr>
                <a:schemeClr val="accent1">
                  <a:lumMod val="20000"/>
                  <a:lumOff val="80000"/>
                </a:schemeClr>
              </a:buClr>
              <a:buFont typeface="Wingdings" pitchFamily="2" charset="2"/>
              <a:buChar char="q"/>
            </a:pPr>
            <a:r>
              <a:rPr lang="en-US" dirty="0"/>
              <a:t>CONTINUOUS DEPLOYMENT</a:t>
            </a:r>
          </a:p>
          <a:p>
            <a:pPr marL="0" indent="0">
              <a:buClr>
                <a:schemeClr val="accent1">
                  <a:lumMod val="20000"/>
                  <a:lumOff val="80000"/>
                </a:schemeClr>
              </a:buClr>
              <a:buFont typeface="Arial"/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Leverages </a:t>
            </a:r>
            <a:r>
              <a:rPr lang="en-US" dirty="0" err="1">
                <a:solidFill>
                  <a:schemeClr val="tx1">
                    <a:lumMod val="85000"/>
                  </a:schemeClr>
                </a:solidFill>
              </a:rPr>
              <a:t>Gunicorn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on Ec2 for ....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881223-1E12-1451-DE55-313CE6C6CB9B}"/>
              </a:ext>
            </a:extLst>
          </p:cNvPr>
          <p:cNvCxnSpPr/>
          <p:nvPr/>
        </p:nvCxnSpPr>
        <p:spPr>
          <a:xfrm>
            <a:off x="3455049" y="1531075"/>
            <a:ext cx="0" cy="365814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575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9CA6-AEF8-39AA-F014-B5D2EA3B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2"/>
            <a:ext cx="10131425" cy="14562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AI INTEGRATION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5532FA-5E9B-D50D-2F4A-F04302C9ED5A}"/>
              </a:ext>
            </a:extLst>
          </p:cNvPr>
          <p:cNvSpPr/>
          <p:nvPr/>
        </p:nvSpPr>
        <p:spPr>
          <a:xfrm>
            <a:off x="336886" y="1965158"/>
            <a:ext cx="5590673" cy="4283242"/>
          </a:xfrm>
          <a:prstGeom prst="roundRect">
            <a:avLst>
              <a:gd name="adj" fmla="val 5993"/>
            </a:avLst>
          </a:prstGeom>
          <a:solidFill>
            <a:srgbClr val="0921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B78483-824B-00F2-6F83-ADCEB41D9A44}"/>
              </a:ext>
            </a:extLst>
          </p:cNvPr>
          <p:cNvSpPr/>
          <p:nvPr/>
        </p:nvSpPr>
        <p:spPr>
          <a:xfrm>
            <a:off x="6317420" y="1967387"/>
            <a:ext cx="5590673" cy="4283242"/>
          </a:xfrm>
          <a:prstGeom prst="roundRect">
            <a:avLst>
              <a:gd name="adj" fmla="val 5993"/>
            </a:avLst>
          </a:pr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8263E-2E3A-AABF-4214-EC5200CC4AC4}"/>
              </a:ext>
            </a:extLst>
          </p:cNvPr>
          <p:cNvSpPr txBox="1"/>
          <p:nvPr/>
        </p:nvSpPr>
        <p:spPr>
          <a:xfrm>
            <a:off x="650389" y="2146078"/>
            <a:ext cx="3249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AMAZON COMPREHEND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F5D79-E9E6-58FD-2C7B-082A252478AB}"/>
              </a:ext>
            </a:extLst>
          </p:cNvPr>
          <p:cNvSpPr txBox="1"/>
          <p:nvPr/>
        </p:nvSpPr>
        <p:spPr>
          <a:xfrm>
            <a:off x="6529820" y="2146078"/>
            <a:ext cx="1856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AMAZON LEX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3D5FEB-F6FC-67BD-5159-2876114DAF7F}"/>
              </a:ext>
            </a:extLst>
          </p:cNvPr>
          <p:cNvSpPr txBox="1"/>
          <p:nvPr/>
        </p:nvSpPr>
        <p:spPr>
          <a:xfrm>
            <a:off x="650388" y="2820747"/>
            <a:ext cx="50044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Utilizing Amazon Comprehend to perform sentiment analysis on SEC Filings (i.e., 10-K, 10-Q) and Earnings Calls (Sourced from Alpha Vantage). This incorporates: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Commonly Used Word Visualization,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Top level document evaluations are leveraged to compare document types,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NER for targeted sentiment analysis providing granular understanding of the sentiments associated with specific entities (i.e., brands or products).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EFA3B-7210-DF33-F176-F5C22081542D}"/>
              </a:ext>
            </a:extLst>
          </p:cNvPr>
          <p:cNvSpPr txBox="1"/>
          <p:nvPr/>
        </p:nvSpPr>
        <p:spPr>
          <a:xfrm>
            <a:off x="6610529" y="2820746"/>
            <a:ext cx="50044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Incorporating Amazon Lex to build a conversational interface allowing a user to interface with the chatbot to answer questions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What companies are being tracked?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What information is available about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</a:rPr>
              <a:t>Crowdstrike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View forecast predictions for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</a:rPr>
              <a:t>Crowdstrike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Explain dashboard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Start tracking Microsoft. (Adds company to Company Table in the Back-end Database)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Stop tracking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</a:rPr>
              <a:t>Crowdstrike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(Removes company from Company Table in the Back-end Database)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0E304C-868D-977C-30AE-CBFBFEE30C53}"/>
              </a:ext>
            </a:extLst>
          </p:cNvPr>
          <p:cNvCxnSpPr>
            <a:cxnSpLocks/>
          </p:cNvCxnSpPr>
          <p:nvPr/>
        </p:nvCxnSpPr>
        <p:spPr>
          <a:xfrm>
            <a:off x="10088" y="0"/>
            <a:ext cx="0" cy="118498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796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BBFB0-8D7B-A264-31E9-9877E74F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94F6F-C194-27F2-1B1F-A002CDDF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2"/>
            <a:ext cx="10131425" cy="1456267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Capability Development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07CF29-6B68-9A74-7ACC-D86DCFB56237}"/>
              </a:ext>
            </a:extLst>
          </p:cNvPr>
          <p:cNvCxnSpPr>
            <a:cxnSpLocks/>
          </p:cNvCxnSpPr>
          <p:nvPr/>
        </p:nvCxnSpPr>
        <p:spPr>
          <a:xfrm>
            <a:off x="10088" y="0"/>
            <a:ext cx="0" cy="118498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C1FB0A3-0F04-D576-B68A-DD035F020265}"/>
              </a:ext>
            </a:extLst>
          </p:cNvPr>
          <p:cNvSpPr/>
          <p:nvPr/>
        </p:nvSpPr>
        <p:spPr>
          <a:xfrm>
            <a:off x="336886" y="1965158"/>
            <a:ext cx="5590673" cy="4283242"/>
          </a:xfrm>
          <a:prstGeom prst="roundRect">
            <a:avLst>
              <a:gd name="adj" fmla="val 5993"/>
            </a:avLst>
          </a:prstGeom>
          <a:solidFill>
            <a:srgbClr val="0921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9CEBC94-1E45-2E88-6E51-3399D92D9CFE}"/>
              </a:ext>
            </a:extLst>
          </p:cNvPr>
          <p:cNvSpPr/>
          <p:nvPr/>
        </p:nvSpPr>
        <p:spPr>
          <a:xfrm>
            <a:off x="6317420" y="1965158"/>
            <a:ext cx="5590673" cy="4285471"/>
          </a:xfrm>
          <a:prstGeom prst="roundRect">
            <a:avLst>
              <a:gd name="adj" fmla="val 5993"/>
            </a:avLst>
          </a:pr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7C2D9-D5E1-60CB-1929-0E7E33F27BE1}"/>
              </a:ext>
            </a:extLst>
          </p:cNvPr>
          <p:cNvSpPr txBox="1"/>
          <p:nvPr/>
        </p:nvSpPr>
        <p:spPr>
          <a:xfrm>
            <a:off x="650389" y="2146078"/>
            <a:ext cx="230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Price Forecasting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6F4AFB-1EBB-D82C-CE0A-E5A8FD9822E8}"/>
              </a:ext>
            </a:extLst>
          </p:cNvPr>
          <p:cNvSpPr txBox="1"/>
          <p:nvPr/>
        </p:nvSpPr>
        <p:spPr>
          <a:xfrm>
            <a:off x="650388" y="2820747"/>
            <a:ext cx="50044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Utilizing Amazon Comprehend to perform sentiment analysis on SEC Filings (i.e., 10-K, 10-Q) and Earnings Calls (Sourced from Alpha Vantage). This incorporates: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Commonly Used Word Visualization,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Top level document evaluations are leveraged to compare document types,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NER for targeted sentiment analysis providing granular understanding of the sentiments associated with specific entities (i.e., brands or products).</a:t>
            </a:r>
          </a:p>
        </p:txBody>
      </p:sp>
      <p:pic>
        <p:nvPicPr>
          <p:cNvPr id="18" name="Picture 17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D1A896EE-0CB1-D4A0-6227-9431C6AD3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244" y="2537118"/>
            <a:ext cx="5275023" cy="313932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E22847-93A0-BA07-694A-4D0BCB21B1E1}"/>
              </a:ext>
            </a:extLst>
          </p:cNvPr>
          <p:cNvSpPr txBox="1"/>
          <p:nvPr/>
        </p:nvSpPr>
        <p:spPr>
          <a:xfrm>
            <a:off x="7450266" y="2007578"/>
            <a:ext cx="4512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Google Sans Text"/>
              </a:rPr>
              <a:t>y</a:t>
            </a:r>
            <a:r>
              <a:rPr lang="en-US" i="1" dirty="0">
                <a:effectLst/>
                <a:latin typeface="Google Sans Text"/>
              </a:rPr>
              <a:t> </a:t>
            </a:r>
            <a:r>
              <a:rPr lang="en-US" dirty="0">
                <a:effectLst/>
                <a:latin typeface="Google Sans Text"/>
              </a:rPr>
              <a:t>= </a:t>
            </a:r>
            <a:r>
              <a:rPr lang="en-US" i="1" dirty="0">
                <a:effectLst/>
                <a:latin typeface="Google Sans Text"/>
              </a:rPr>
              <a:t>trend </a:t>
            </a:r>
            <a:r>
              <a:rPr lang="en-US" dirty="0">
                <a:effectLst/>
                <a:latin typeface="Google Sans Text"/>
              </a:rPr>
              <a:t>+ </a:t>
            </a:r>
            <a:r>
              <a:rPr lang="en-US" i="1" dirty="0">
                <a:effectLst/>
                <a:latin typeface="Google Sans Text"/>
              </a:rPr>
              <a:t>seasonality </a:t>
            </a:r>
            <a:r>
              <a:rPr lang="en-US" dirty="0">
                <a:effectLst/>
                <a:latin typeface="Google Sans Text"/>
              </a:rPr>
              <a:t>+ </a:t>
            </a:r>
            <a:r>
              <a:rPr lang="en-US" i="1" dirty="0">
                <a:effectLst/>
                <a:latin typeface="Google Sans Text"/>
              </a:rPr>
              <a:t>holidays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3572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C836D-382D-EE42-42C0-60A649E49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E502-C96F-6EBA-5677-77B14F8AF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2"/>
            <a:ext cx="10131425" cy="1456267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Capability Development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0839AC-CD66-0DFB-507D-F440D8D3B429}"/>
              </a:ext>
            </a:extLst>
          </p:cNvPr>
          <p:cNvCxnSpPr>
            <a:cxnSpLocks/>
          </p:cNvCxnSpPr>
          <p:nvPr/>
        </p:nvCxnSpPr>
        <p:spPr>
          <a:xfrm>
            <a:off x="10088" y="0"/>
            <a:ext cx="0" cy="118498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4CE23C4-9B83-51BA-150A-E0E92DA4947F}"/>
              </a:ext>
            </a:extLst>
          </p:cNvPr>
          <p:cNvSpPr/>
          <p:nvPr/>
        </p:nvSpPr>
        <p:spPr>
          <a:xfrm>
            <a:off x="336885" y="1273385"/>
            <a:ext cx="11360841" cy="4975015"/>
          </a:xfrm>
          <a:prstGeom prst="roundRect">
            <a:avLst>
              <a:gd name="adj" fmla="val 5993"/>
            </a:avLst>
          </a:prstGeom>
          <a:solidFill>
            <a:srgbClr val="0921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0969F-B519-4F51-16B6-952B40FB9831}"/>
              </a:ext>
            </a:extLst>
          </p:cNvPr>
          <p:cNvSpPr txBox="1"/>
          <p:nvPr/>
        </p:nvSpPr>
        <p:spPr>
          <a:xfrm>
            <a:off x="494273" y="1407928"/>
            <a:ext cx="1675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Amazon Lex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EAC032-B971-4911-0458-F87586AC1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6768"/>
              </p:ext>
            </p:extLst>
          </p:nvPr>
        </p:nvGraphicFramePr>
        <p:xfrm>
          <a:off x="6143410" y="1593969"/>
          <a:ext cx="5221288" cy="4472295"/>
        </p:xfrm>
        <a:graphic>
          <a:graphicData uri="http://schemas.openxmlformats.org/drawingml/2006/table">
            <a:tbl>
              <a:tblPr/>
              <a:tblGrid>
                <a:gridCol w="2086202">
                  <a:extLst>
                    <a:ext uri="{9D8B030D-6E8A-4147-A177-3AD203B41FA5}">
                      <a16:colId xmlns:a16="http://schemas.microsoft.com/office/drawing/2014/main" val="3126154885"/>
                    </a:ext>
                  </a:extLst>
                </a:gridCol>
                <a:gridCol w="3135086">
                  <a:extLst>
                    <a:ext uri="{9D8B030D-6E8A-4147-A177-3AD203B41FA5}">
                      <a16:colId xmlns:a16="http://schemas.microsoft.com/office/drawing/2014/main" val="1043948725"/>
                    </a:ext>
                  </a:extLst>
                </a:gridCol>
              </a:tblGrid>
              <a:tr h="534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Intent Lambda Handler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Data Source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465455"/>
                  </a:ext>
                </a:extLst>
              </a:tr>
              <a:tr h="257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WelcomeIntent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Static (intentional)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055873"/>
                  </a:ext>
                </a:extLst>
              </a:tr>
              <a:tr h="257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ListCompaniesIntent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Database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50216"/>
                  </a:ext>
                </a:extLst>
              </a:tr>
              <a:tr h="257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CompanyInfoIntent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Database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358974"/>
                  </a:ext>
                </a:extLst>
              </a:tr>
              <a:tr h="483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SentimentAnalysisIntent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API </a:t>
                      </a: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/api/sentiment/{ticker}</a:t>
                      </a:r>
                      <a:endParaRPr lang="en-US" sz="14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039093"/>
                  </a:ext>
                </a:extLst>
              </a:tr>
              <a:tr h="483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ForecastIntent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API 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api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/forecast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 + 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api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/evaluate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528574"/>
                  </a:ext>
                </a:extLst>
              </a:tr>
              <a:tr h="483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GrowthMetricsIntent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API 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api</a:t>
                      </a: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/company-growth/{ticker}</a:t>
                      </a:r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2315"/>
                  </a:ext>
                </a:extLst>
              </a:tr>
              <a:tr h="47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DocumentInventoryIntent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Database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576668"/>
                  </a:ext>
                </a:extLst>
              </a:tr>
              <a:tr h="471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DashboardFeaturesIntent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Static (intentional)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957401"/>
                  </a:ext>
                </a:extLst>
              </a:tr>
              <a:tr h="257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FallbackIntent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Static (intentional)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22343"/>
                  </a:ext>
                </a:extLst>
              </a:tr>
              <a:tr h="257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AddCompanyIntent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Database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73214"/>
                  </a:ext>
                </a:extLst>
              </a:tr>
              <a:tr h="257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RemoveCompanyIntent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Database</a:t>
                      </a:r>
                    </a:p>
                  </a:txBody>
                  <a:tcPr marL="15207" marR="15207" marT="15207" marB="15207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5676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7D1F72E-BAD3-5495-D3D4-A8B0EAF12CA5}"/>
              </a:ext>
            </a:extLst>
          </p:cNvPr>
          <p:cNvSpPr txBox="1"/>
          <p:nvPr/>
        </p:nvSpPr>
        <p:spPr>
          <a:xfrm>
            <a:off x="481770" y="2004136"/>
            <a:ext cx="53286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Troubleshooting: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Responses for model-based information resulted in a timeout from Lex for the Lambda to respond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Solution was twofold: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Provisioned Concurrency </a:t>
            </a:r>
            <a:r>
              <a:rPr lang="en-US" dirty="0"/>
              <a:t>to avoid cold startups; will destroy instance when not using due to increased cost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Having the Lambda call the EC2's public IP instead of the private IP (30 seconds vs .3 seconds)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Conversations with confirmation (such as remove company from tracking required adjustment from </a:t>
            </a:r>
            <a:r>
              <a:rPr lang="en-US" i="1" dirty="0" err="1"/>
              <a:t>ElicitIntent</a:t>
            </a:r>
            <a:r>
              <a:rPr lang="en-US" dirty="0"/>
              <a:t> to </a:t>
            </a:r>
            <a:r>
              <a:rPr lang="en-US" i="1" dirty="0" err="1"/>
              <a:t>ConfirmIntent</a:t>
            </a: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004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ECE8AE55-A05C-FBC8-AE20-149A2C98053E}"/>
              </a:ext>
            </a:extLst>
          </p:cNvPr>
          <p:cNvSpPr/>
          <p:nvPr/>
        </p:nvSpPr>
        <p:spPr>
          <a:xfrm>
            <a:off x="10637271" y="948817"/>
            <a:ext cx="1496867" cy="4170848"/>
          </a:xfrm>
          <a:prstGeom prst="roundRect">
            <a:avLst>
              <a:gd name="adj" fmla="val 50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External Data Sourced from Internet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AE73E6-1A7A-05A4-56EE-1AB57D8A54DB}"/>
              </a:ext>
            </a:extLst>
          </p:cNvPr>
          <p:cNvSpPr/>
          <p:nvPr/>
        </p:nvSpPr>
        <p:spPr>
          <a:xfrm>
            <a:off x="1700784" y="195942"/>
            <a:ext cx="8870230" cy="6662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BF8FFF-F3D3-CD98-0246-EA2B14B8C4DB}"/>
              </a:ext>
            </a:extLst>
          </p:cNvPr>
          <p:cNvSpPr txBox="1"/>
          <p:nvPr/>
        </p:nvSpPr>
        <p:spPr>
          <a:xfrm>
            <a:off x="1700784" y="195047"/>
            <a:ext cx="1350578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AWS Cloud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D4DDF8F-3EF0-14F5-86F5-EEE937FE07D5}"/>
              </a:ext>
            </a:extLst>
          </p:cNvPr>
          <p:cNvCxnSpPr>
            <a:cxnSpLocks/>
          </p:cNvCxnSpPr>
          <p:nvPr/>
        </p:nvCxnSpPr>
        <p:spPr>
          <a:xfrm>
            <a:off x="1129448" y="3869871"/>
            <a:ext cx="662141" cy="0"/>
          </a:xfrm>
          <a:prstGeom prst="straightConnector1">
            <a:avLst/>
          </a:prstGeom>
          <a:ln w="254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9D31E00-B6BF-C2A7-E2E1-E146AEDC08EF}"/>
              </a:ext>
            </a:extLst>
          </p:cNvPr>
          <p:cNvSpPr txBox="1"/>
          <p:nvPr/>
        </p:nvSpPr>
        <p:spPr>
          <a:xfrm>
            <a:off x="1125121" y="3610730"/>
            <a:ext cx="650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HTTPS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2CEFB1-B54A-62D3-8502-8C4BBAF75C4B}"/>
              </a:ext>
            </a:extLst>
          </p:cNvPr>
          <p:cNvSpPr txBox="1"/>
          <p:nvPr/>
        </p:nvSpPr>
        <p:spPr>
          <a:xfrm>
            <a:off x="2902137" y="225824"/>
            <a:ext cx="16444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Region: us-west-2</a:t>
            </a:r>
          </a:p>
        </p:txBody>
      </p:sp>
      <p:grpSp>
        <p:nvGrpSpPr>
          <p:cNvPr id="49" name="VPCGroup" descr="Virtual private cloud (VPC) group inside the AWS Cloud grouping.">
            <a:extLst>
              <a:ext uri="{FF2B5EF4-FFF2-40B4-BE49-F238E27FC236}">
                <a16:creationId xmlns:a16="http://schemas.microsoft.com/office/drawing/2014/main" id="{379852CE-9399-2207-690A-AC7A63D43FE4}"/>
              </a:ext>
            </a:extLst>
          </p:cNvPr>
          <p:cNvGrpSpPr/>
          <p:nvPr/>
        </p:nvGrpSpPr>
        <p:grpSpPr>
          <a:xfrm>
            <a:off x="4028266" y="1536796"/>
            <a:ext cx="6428341" cy="5321204"/>
            <a:chOff x="2960075" y="2084361"/>
            <a:chExt cx="6428341" cy="5321204"/>
          </a:xfrm>
        </p:grpSpPr>
        <p:sp>
          <p:nvSpPr>
            <p:cNvPr id="50" name="Rectangle 49" descr="VPC group border">
              <a:extLst>
                <a:ext uri="{FF2B5EF4-FFF2-40B4-BE49-F238E27FC236}">
                  <a16:creationId xmlns:a16="http://schemas.microsoft.com/office/drawing/2014/main" id="{52F8CCC8-49C0-4C05-9F16-89C504650EA8}"/>
                </a:ext>
              </a:extLst>
            </p:cNvPr>
            <p:cNvSpPr/>
            <p:nvPr/>
          </p:nvSpPr>
          <p:spPr>
            <a:xfrm>
              <a:off x="2963093" y="2089123"/>
              <a:ext cx="6425323" cy="5316442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Virtual private cloud (VPC)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10.0.0.0/16</a:t>
              </a:r>
            </a:p>
          </p:txBody>
        </p:sp>
        <p:pic>
          <p:nvPicPr>
            <p:cNvPr id="51" name="Graphic 50" descr="VPC group icon.">
              <a:extLst>
                <a:ext uri="{FF2B5EF4-FFF2-40B4-BE49-F238E27FC236}">
                  <a16:creationId xmlns:a16="http://schemas.microsoft.com/office/drawing/2014/main" id="{A481DD74-FDC3-8740-B851-FDD029E69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960075" y="2084361"/>
              <a:ext cx="381000" cy="381000"/>
            </a:xfrm>
            <a:prstGeom prst="rect">
              <a:avLst/>
            </a:prstGeom>
          </p:spPr>
        </p:pic>
      </p:grpSp>
      <p:grpSp>
        <p:nvGrpSpPr>
          <p:cNvPr id="56" name="PSgroup" descr="Public subnet group inside VPC cloud group and in the AZ group.">
            <a:extLst>
              <a:ext uri="{FF2B5EF4-FFF2-40B4-BE49-F238E27FC236}">
                <a16:creationId xmlns:a16="http://schemas.microsoft.com/office/drawing/2014/main" id="{F05209D6-6013-9E64-6F1A-69DC3E54ECE0}"/>
              </a:ext>
            </a:extLst>
          </p:cNvPr>
          <p:cNvGrpSpPr/>
          <p:nvPr/>
        </p:nvGrpSpPr>
        <p:grpSpPr>
          <a:xfrm>
            <a:off x="4220166" y="2214001"/>
            <a:ext cx="2858563" cy="2119907"/>
            <a:chOff x="4794250" y="2652686"/>
            <a:chExt cx="2858563" cy="2119907"/>
          </a:xfrm>
        </p:grpSpPr>
        <p:sp>
          <p:nvSpPr>
            <p:cNvPr id="57" name="Rectangle 56" descr="Public subnet group border.">
              <a:extLst>
                <a:ext uri="{FF2B5EF4-FFF2-40B4-BE49-F238E27FC236}">
                  <a16:creationId xmlns:a16="http://schemas.microsoft.com/office/drawing/2014/main" id="{D13AEDD2-6CEC-6F00-C45C-B491D75CF511}"/>
                </a:ext>
              </a:extLst>
            </p:cNvPr>
            <p:cNvSpPr/>
            <p:nvPr/>
          </p:nvSpPr>
          <p:spPr>
            <a:xfrm>
              <a:off x="4794250" y="2652686"/>
              <a:ext cx="2858563" cy="2119907"/>
            </a:xfrm>
            <a:prstGeom prst="rect">
              <a:avLst/>
            </a:prstGeom>
            <a:noFill/>
            <a:ln w="15875" cmpd="sng">
              <a:solidFill>
                <a:srgbClr val="7AA11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Public subnet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10.0.0.0/24</a:t>
              </a:r>
            </a:p>
          </p:txBody>
        </p:sp>
        <p:pic>
          <p:nvPicPr>
            <p:cNvPr id="58" name="Graphic 57" descr="Public subnet group icon.">
              <a:extLst>
                <a:ext uri="{FF2B5EF4-FFF2-40B4-BE49-F238E27FC236}">
                  <a16:creationId xmlns:a16="http://schemas.microsoft.com/office/drawing/2014/main" id="{347D17CA-466F-ED71-2836-4DF07DD7E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4794250" y="2652686"/>
              <a:ext cx="381000" cy="381000"/>
            </a:xfrm>
            <a:prstGeom prst="rect">
              <a:avLst/>
            </a:prstGeom>
          </p:spPr>
        </p:pic>
      </p:grpSp>
      <p:pic>
        <p:nvPicPr>
          <p:cNvPr id="64" name="Graphic 63" descr="Office worker female with solid fill">
            <a:extLst>
              <a:ext uri="{FF2B5EF4-FFF2-40B4-BE49-F238E27FC236}">
                <a16:creationId xmlns:a16="http://schemas.microsoft.com/office/drawing/2014/main" id="{E42E9ABF-ADA1-3AE9-61CB-E652BFED65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336" y="3394793"/>
            <a:ext cx="914400" cy="91440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BBA4A737-CA38-8216-9155-4BBCD736F6C6}"/>
              </a:ext>
            </a:extLst>
          </p:cNvPr>
          <p:cNvSpPr/>
          <p:nvPr/>
        </p:nvSpPr>
        <p:spPr>
          <a:xfrm>
            <a:off x="304808" y="4230624"/>
            <a:ext cx="981456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User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9EE547C-6BB3-81BC-2FB0-4F155069F9B2}"/>
              </a:ext>
            </a:extLst>
          </p:cNvPr>
          <p:cNvGrpSpPr/>
          <p:nvPr/>
        </p:nvGrpSpPr>
        <p:grpSpPr>
          <a:xfrm>
            <a:off x="2095282" y="4624710"/>
            <a:ext cx="1772615" cy="1296936"/>
            <a:chOff x="3421940" y="4702273"/>
            <a:chExt cx="1772615" cy="1296936"/>
          </a:xfrm>
        </p:grpSpPr>
        <p:pic>
          <p:nvPicPr>
            <p:cNvPr id="41" name="Graphic 31" descr="Bucket with objects resource icon for the S3 service.">
              <a:extLst>
                <a:ext uri="{FF2B5EF4-FFF2-40B4-BE49-F238E27FC236}">
                  <a16:creationId xmlns:a16="http://schemas.microsoft.com/office/drawing/2014/main" id="{C71E5445-BB9E-19B0-9F33-60A537B10E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4014076" y="5054944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label4">
              <a:extLst>
                <a:ext uri="{FF2B5EF4-FFF2-40B4-BE49-F238E27FC236}">
                  <a16:creationId xmlns:a16="http://schemas.microsoft.com/office/drawing/2014/main" id="{E65AB4EB-F1DE-3213-DA27-774584C64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4964" y="5537544"/>
              <a:ext cx="15065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Amazon S3</a:t>
              </a:r>
            </a:p>
            <a:p>
              <a:pPr algn="ctr" eaLnBrk="1" hangingPunct="1"/>
              <a:r>
                <a:rPr lang="en-US" alt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React Build </a:t>
              </a:r>
            </a:p>
          </p:txBody>
        </p:sp>
        <p:grpSp>
          <p:nvGrpSpPr>
            <p:cNvPr id="66" name="Group 65" descr="Mars group.">
              <a:extLst>
                <a:ext uri="{FF2B5EF4-FFF2-40B4-BE49-F238E27FC236}">
                  <a16:creationId xmlns:a16="http://schemas.microsoft.com/office/drawing/2014/main" id="{36E87BCF-CD61-62CD-C2D5-BCC0EF8DC4C1}"/>
                </a:ext>
              </a:extLst>
            </p:cNvPr>
            <p:cNvGrpSpPr/>
            <p:nvPr/>
          </p:nvGrpSpPr>
          <p:grpSpPr>
            <a:xfrm>
              <a:off x="3421940" y="4702273"/>
              <a:ext cx="1772615" cy="1296936"/>
              <a:chOff x="2298540" y="1994762"/>
              <a:chExt cx="1772615" cy="1296936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278C4246-FD14-4808-A4EF-E20C504F5658}"/>
                  </a:ext>
                </a:extLst>
              </p:cNvPr>
              <p:cNvSpPr/>
              <p:nvPr/>
            </p:nvSpPr>
            <p:spPr>
              <a:xfrm>
                <a:off x="2298540" y="1994762"/>
                <a:ext cx="1772615" cy="1296936"/>
              </a:xfrm>
              <a:prstGeom prst="rect">
                <a:avLst/>
              </a:prstGeom>
              <a:noFill/>
              <a:ln w="15875">
                <a:solidFill>
                  <a:srgbClr val="E7157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Frontend Hosting</a:t>
                </a:r>
              </a:p>
            </p:txBody>
          </p:sp>
          <p:pic>
            <p:nvPicPr>
              <p:cNvPr id="68" name="Graphic 67" descr="Graphic icon.">
                <a:extLst>
                  <a:ext uri="{FF2B5EF4-FFF2-40B4-BE49-F238E27FC236}">
                    <a16:creationId xmlns:a16="http://schemas.microsoft.com/office/drawing/2014/main" id="{15936114-5EF0-1A86-6F68-29B7347AD0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2298541" y="1994762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6C0427E-0A16-1B9B-F6A1-AAAF80461970}"/>
              </a:ext>
            </a:extLst>
          </p:cNvPr>
          <p:cNvGrpSpPr/>
          <p:nvPr/>
        </p:nvGrpSpPr>
        <p:grpSpPr>
          <a:xfrm>
            <a:off x="2074962" y="1644429"/>
            <a:ext cx="1772615" cy="1296936"/>
            <a:chOff x="3437275" y="3225719"/>
            <a:chExt cx="1772615" cy="1296936"/>
          </a:xfrm>
        </p:grpSpPr>
        <p:pic>
          <p:nvPicPr>
            <p:cNvPr id="70" name="Graphic 31" descr="Bucket with objects resource icon for the S3 service.">
              <a:extLst>
                <a:ext uri="{FF2B5EF4-FFF2-40B4-BE49-F238E27FC236}">
                  <a16:creationId xmlns:a16="http://schemas.microsoft.com/office/drawing/2014/main" id="{2E3680CB-EEF4-76BE-1780-157D93AEB9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4029411" y="357839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label4">
              <a:extLst>
                <a:ext uri="{FF2B5EF4-FFF2-40B4-BE49-F238E27FC236}">
                  <a16:creationId xmlns:a16="http://schemas.microsoft.com/office/drawing/2014/main" id="{0887B369-B9C8-CA2C-D930-4C7047D2D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1999" y="4059831"/>
              <a:ext cx="1699591" cy="438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Amazon S3</a:t>
              </a:r>
            </a:p>
            <a:p>
              <a:pPr algn="ctr" eaLnBrk="1" hangingPunct="1"/>
              <a:r>
                <a:rPr lang="en-US" altLang="en-US" sz="10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 Filings, Transcripts</a:t>
              </a:r>
            </a:p>
          </p:txBody>
        </p:sp>
        <p:grpSp>
          <p:nvGrpSpPr>
            <p:cNvPr id="72" name="Group 71" descr="Mars group.">
              <a:extLst>
                <a:ext uri="{FF2B5EF4-FFF2-40B4-BE49-F238E27FC236}">
                  <a16:creationId xmlns:a16="http://schemas.microsoft.com/office/drawing/2014/main" id="{F291B2C9-8315-B167-CA62-5D1F59A3F6ED}"/>
                </a:ext>
              </a:extLst>
            </p:cNvPr>
            <p:cNvGrpSpPr/>
            <p:nvPr/>
          </p:nvGrpSpPr>
          <p:grpSpPr>
            <a:xfrm>
              <a:off x="3437275" y="3225719"/>
              <a:ext cx="1772615" cy="1296936"/>
              <a:chOff x="2298540" y="1994762"/>
              <a:chExt cx="1772615" cy="1296936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7FA35DC3-6B67-F84F-41DE-4DE995E57A1F}"/>
                  </a:ext>
                </a:extLst>
              </p:cNvPr>
              <p:cNvSpPr/>
              <p:nvPr/>
            </p:nvSpPr>
            <p:spPr>
              <a:xfrm>
                <a:off x="2298540" y="1994762"/>
                <a:ext cx="1772615" cy="1296936"/>
              </a:xfrm>
              <a:prstGeom prst="rect">
                <a:avLst/>
              </a:prstGeom>
              <a:noFill/>
              <a:ln w="15875">
                <a:solidFill>
                  <a:srgbClr val="E7157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Artifacts Storage</a:t>
                </a:r>
              </a:p>
            </p:txBody>
          </p:sp>
          <p:pic>
            <p:nvPicPr>
              <p:cNvPr id="74" name="Graphic 73" descr="Graphic icon.">
                <a:extLst>
                  <a:ext uri="{FF2B5EF4-FFF2-40B4-BE49-F238E27FC236}">
                    <a16:creationId xmlns:a16="http://schemas.microsoft.com/office/drawing/2014/main" id="{971F2B5A-AE28-B375-3A3D-9F9E4E96FD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2298541" y="1994762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77" name="Group 76" descr="EC2 instance contents group.">
            <a:extLst>
              <a:ext uri="{FF2B5EF4-FFF2-40B4-BE49-F238E27FC236}">
                <a16:creationId xmlns:a16="http://schemas.microsoft.com/office/drawing/2014/main" id="{E940E560-4E05-7707-3EDB-371905086B1B}"/>
              </a:ext>
            </a:extLst>
          </p:cNvPr>
          <p:cNvGrpSpPr/>
          <p:nvPr/>
        </p:nvGrpSpPr>
        <p:grpSpPr>
          <a:xfrm>
            <a:off x="4437985" y="2792802"/>
            <a:ext cx="2277305" cy="1437822"/>
            <a:chOff x="351631" y="3723399"/>
            <a:chExt cx="2277305" cy="143782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1215149-B437-E422-1BD3-5798A365DBE5}"/>
                </a:ext>
              </a:extLst>
            </p:cNvPr>
            <p:cNvSpPr/>
            <p:nvPr/>
          </p:nvSpPr>
          <p:spPr>
            <a:xfrm>
              <a:off x="351631" y="3723399"/>
              <a:ext cx="2277305" cy="1437822"/>
            </a:xfrm>
            <a:prstGeom prst="rect">
              <a:avLst/>
            </a:prstGeom>
            <a:noFill/>
            <a:ln w="15875">
              <a:solidFill>
                <a:srgbClr val="ED71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EC2 instance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10.0.0.114</a:t>
              </a:r>
            </a:p>
          </p:txBody>
        </p:sp>
        <p:pic>
          <p:nvPicPr>
            <p:cNvPr id="79" name="Graphic 78" descr="EC2 instance contents group icon. ">
              <a:extLst>
                <a:ext uri="{FF2B5EF4-FFF2-40B4-BE49-F238E27FC236}">
                  <a16:creationId xmlns:a16="http://schemas.microsoft.com/office/drawing/2014/main" id="{15E332FC-4EAD-4B61-FD68-F073963FD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351632" y="3723399"/>
              <a:ext cx="381000" cy="381000"/>
            </a:xfrm>
            <a:prstGeom prst="rect">
              <a:avLst/>
            </a:prstGeom>
          </p:spPr>
        </p:pic>
      </p:grpSp>
      <p:pic>
        <p:nvPicPr>
          <p:cNvPr id="81" name="Picture 80" descr="A green and black unicorn&#10;&#10;AI-generated content may be incorrect.">
            <a:extLst>
              <a:ext uri="{FF2B5EF4-FFF2-40B4-BE49-F238E27FC236}">
                <a16:creationId xmlns:a16="http://schemas.microsoft.com/office/drawing/2014/main" id="{8AD9A60D-7509-F9C4-8727-5BA485D9662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16390" y="3389816"/>
            <a:ext cx="1178083" cy="725574"/>
          </a:xfrm>
          <a:prstGeom prst="rect">
            <a:avLst/>
          </a:prstGeom>
        </p:spPr>
      </p:pic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45411D62-B029-0C1A-ECA0-3DCCCC5937F7}"/>
              </a:ext>
            </a:extLst>
          </p:cNvPr>
          <p:cNvCxnSpPr>
            <a:cxnSpLocks/>
            <a:stCxn id="78" idx="1"/>
            <a:endCxn id="73" idx="3"/>
          </p:cNvCxnSpPr>
          <p:nvPr/>
        </p:nvCxnSpPr>
        <p:spPr>
          <a:xfrm rot="10800000">
            <a:off x="3847577" y="2292897"/>
            <a:ext cx="590408" cy="1218816"/>
          </a:xfrm>
          <a:prstGeom prst="bentConnector3">
            <a:avLst/>
          </a:prstGeom>
          <a:ln w="254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Graphic 87" descr="NAT gateway resource icon for the Amazon VPC service.&#10;">
            <a:extLst>
              <a:ext uri="{FF2B5EF4-FFF2-40B4-BE49-F238E27FC236}">
                <a16:creationId xmlns:a16="http://schemas.microsoft.com/office/drawing/2014/main" id="{FBFF33CF-1571-BCA9-8199-22FF0195FFD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90356" y="3263220"/>
            <a:ext cx="457200" cy="457200"/>
          </a:xfrm>
          <a:prstGeom prst="rect">
            <a:avLst/>
          </a:prstGeom>
        </p:spPr>
      </p:pic>
      <p:sp>
        <p:nvSpPr>
          <p:cNvPr id="89" name="TextBox 17">
            <a:extLst>
              <a:ext uri="{FF2B5EF4-FFF2-40B4-BE49-F238E27FC236}">
                <a16:creationId xmlns:a16="http://schemas.microsoft.com/office/drawing/2014/main" id="{07CAEDC9-90F4-ED21-A9F6-3FE8E51F7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646" y="3725486"/>
            <a:ext cx="655289" cy="400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</a:t>
            </a:r>
          </a:p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gateway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12B5016-E790-E269-321F-D5F4D4D1243D}"/>
              </a:ext>
            </a:extLst>
          </p:cNvPr>
          <p:cNvSpPr txBox="1"/>
          <p:nvPr/>
        </p:nvSpPr>
        <p:spPr>
          <a:xfrm>
            <a:off x="4460794" y="4041353"/>
            <a:ext cx="196259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002060"/>
                </a:solidFill>
              </a:rPr>
              <a:t>Se: YouTube (KWIIPKbdxD0)</a:t>
            </a:r>
          </a:p>
        </p:txBody>
      </p:sp>
      <p:grpSp>
        <p:nvGrpSpPr>
          <p:cNvPr id="95" name="Group 94" descr="Private subnet group.">
            <a:extLst>
              <a:ext uri="{FF2B5EF4-FFF2-40B4-BE49-F238E27FC236}">
                <a16:creationId xmlns:a16="http://schemas.microsoft.com/office/drawing/2014/main" id="{D6A1E160-0F99-304A-4389-D5DD80F213AC}"/>
              </a:ext>
            </a:extLst>
          </p:cNvPr>
          <p:cNvGrpSpPr/>
          <p:nvPr/>
        </p:nvGrpSpPr>
        <p:grpSpPr>
          <a:xfrm>
            <a:off x="4213921" y="4714907"/>
            <a:ext cx="2751985" cy="1331235"/>
            <a:chOff x="4215622" y="2618864"/>
            <a:chExt cx="2751985" cy="1331235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EA898A6-44EA-103F-6091-4D372DE63052}"/>
                </a:ext>
              </a:extLst>
            </p:cNvPr>
            <p:cNvSpPr/>
            <p:nvPr/>
          </p:nvSpPr>
          <p:spPr>
            <a:xfrm>
              <a:off x="4215622" y="2618864"/>
              <a:ext cx="2751985" cy="1331235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10.0.11.0/24</a:t>
              </a:r>
            </a:p>
          </p:txBody>
        </p:sp>
        <p:pic>
          <p:nvPicPr>
            <p:cNvPr id="97" name="Graphic 96" descr="Private subnet group icon. ">
              <a:extLst>
                <a:ext uri="{FF2B5EF4-FFF2-40B4-BE49-F238E27FC236}">
                  <a16:creationId xmlns:a16="http://schemas.microsoft.com/office/drawing/2014/main" id="{C4A7BFE5-33AC-6F9D-A8C7-2FC19E9A5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4215623" y="2618865"/>
              <a:ext cx="381000" cy="381000"/>
            </a:xfrm>
            <a:prstGeom prst="rect">
              <a:avLst/>
            </a:prstGeom>
          </p:spPr>
        </p:pic>
      </p:grpSp>
      <p:pic>
        <p:nvPicPr>
          <p:cNvPr id="98" name="Graphic 97" descr="Multi-AZ resource icon for the Amazon RDS service.">
            <a:extLst>
              <a:ext uri="{FF2B5EF4-FFF2-40B4-BE49-F238E27FC236}">
                <a16:creationId xmlns:a16="http://schemas.microsoft.com/office/drawing/2014/main" id="{FB0AE44A-9D80-6C6A-ACF6-842D6927F55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756198" y="4809998"/>
            <a:ext cx="457200" cy="457200"/>
          </a:xfrm>
          <a:prstGeom prst="rect">
            <a:avLst/>
          </a:prstGeom>
        </p:spPr>
      </p:pic>
      <p:sp>
        <p:nvSpPr>
          <p:cNvPr id="2" name="Rectangle 1" descr="Availability Zone 1 represented by availability zone resource group.">
            <a:extLst>
              <a:ext uri="{FF2B5EF4-FFF2-40B4-BE49-F238E27FC236}">
                <a16:creationId xmlns:a16="http://schemas.microsoft.com/office/drawing/2014/main" id="{1537484C-26DB-A898-B2B4-A2C6BCADF270}"/>
              </a:ext>
            </a:extLst>
          </p:cNvPr>
          <p:cNvSpPr/>
          <p:nvPr/>
        </p:nvSpPr>
        <p:spPr bwMode="auto">
          <a:xfrm>
            <a:off x="4129223" y="4409321"/>
            <a:ext cx="2904800" cy="2376835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 (us-west-2b)</a:t>
            </a:r>
          </a:p>
        </p:txBody>
      </p:sp>
      <p:sp>
        <p:nvSpPr>
          <p:cNvPr id="99" name="TextBox 17">
            <a:extLst>
              <a:ext uri="{FF2B5EF4-FFF2-40B4-BE49-F238E27FC236}">
                <a16:creationId xmlns:a16="http://schemas.microsoft.com/office/drawing/2014/main" id="{F7125BDB-928C-377C-4FAF-AE4550567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654" y="5222354"/>
            <a:ext cx="16463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RDS Multi-AZ Ready</a:t>
            </a:r>
          </a:p>
        </p:txBody>
      </p:sp>
      <p:grpSp>
        <p:nvGrpSpPr>
          <p:cNvPr id="100" name="Group 99" descr="Private subnet group.">
            <a:extLst>
              <a:ext uri="{FF2B5EF4-FFF2-40B4-BE49-F238E27FC236}">
                <a16:creationId xmlns:a16="http://schemas.microsoft.com/office/drawing/2014/main" id="{269A5F39-FA33-E8C9-6BA9-A21826273675}"/>
              </a:ext>
            </a:extLst>
          </p:cNvPr>
          <p:cNvGrpSpPr/>
          <p:nvPr/>
        </p:nvGrpSpPr>
        <p:grpSpPr>
          <a:xfrm>
            <a:off x="7278548" y="4477236"/>
            <a:ext cx="3141359" cy="2240272"/>
            <a:chOff x="4427965" y="1984064"/>
            <a:chExt cx="3141359" cy="2240272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7ECFAB3-4ADB-E7D9-00C7-96EB88C69B8B}"/>
                </a:ext>
              </a:extLst>
            </p:cNvPr>
            <p:cNvSpPr/>
            <p:nvPr/>
          </p:nvSpPr>
          <p:spPr>
            <a:xfrm>
              <a:off x="4438596" y="1984064"/>
              <a:ext cx="3130728" cy="2240272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10.0.10.0/24</a:t>
              </a:r>
            </a:p>
          </p:txBody>
        </p:sp>
        <p:pic>
          <p:nvPicPr>
            <p:cNvPr id="102" name="Graphic 101" descr="Private subnet group icon. ">
              <a:extLst>
                <a:ext uri="{FF2B5EF4-FFF2-40B4-BE49-F238E27FC236}">
                  <a16:creationId xmlns:a16="http://schemas.microsoft.com/office/drawing/2014/main" id="{89D66870-ADC9-E433-16E0-484B9A6D8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4427965" y="1995443"/>
              <a:ext cx="381000" cy="381000"/>
            </a:xfrm>
            <a:prstGeom prst="rect">
              <a:avLst/>
            </a:prstGeom>
          </p:spPr>
        </p:pic>
      </p:grpSp>
      <p:pic>
        <p:nvPicPr>
          <p:cNvPr id="103" name="Graphic 102" descr="Amazon RDS instance instance icon for the Database category.">
            <a:extLst>
              <a:ext uri="{FF2B5EF4-FFF2-40B4-BE49-F238E27FC236}">
                <a16:creationId xmlns:a16="http://schemas.microsoft.com/office/drawing/2014/main" id="{645E4BA1-F008-FF37-17EA-1D95D8D75E2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47096" y="5233073"/>
            <a:ext cx="457200" cy="457200"/>
          </a:xfrm>
          <a:prstGeom prst="rect">
            <a:avLst/>
          </a:prstGeom>
        </p:spPr>
      </p:pic>
      <p:sp>
        <p:nvSpPr>
          <p:cNvPr id="170" name="Rectangle 169" descr="Security group.">
            <a:extLst>
              <a:ext uri="{FF2B5EF4-FFF2-40B4-BE49-F238E27FC236}">
                <a16:creationId xmlns:a16="http://schemas.microsoft.com/office/drawing/2014/main" id="{2DB636B3-F166-4B88-83AA-2CF5FC487A74}"/>
              </a:ext>
            </a:extLst>
          </p:cNvPr>
          <p:cNvSpPr/>
          <p:nvPr/>
        </p:nvSpPr>
        <p:spPr>
          <a:xfrm>
            <a:off x="4328794" y="5540233"/>
            <a:ext cx="3754923" cy="450288"/>
          </a:xfrm>
          <a:prstGeom prst="rect">
            <a:avLst/>
          </a:prstGeom>
          <a:solidFill>
            <a:schemeClr val="tx1"/>
          </a:solidFill>
          <a:ln w="15875">
            <a:solidFill>
              <a:srgbClr val="DD344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6">
            <a:extLst>
              <a:ext uri="{FF2B5EF4-FFF2-40B4-BE49-F238E27FC236}">
                <a16:creationId xmlns:a16="http://schemas.microsoft.com/office/drawing/2014/main" id="{10B69989-5623-77D2-6BAD-36B87B047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9675" y="5158473"/>
            <a:ext cx="164611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 PostgreSQL </a:t>
            </a:r>
          </a:p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instance</a:t>
            </a:r>
          </a:p>
        </p:txBody>
      </p:sp>
      <p:pic>
        <p:nvPicPr>
          <p:cNvPr id="109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6D8E9DF2-0D80-9F4E-FB03-436DF52A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5895329" y="554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TextBox 17">
            <a:extLst>
              <a:ext uri="{FF2B5EF4-FFF2-40B4-BE49-F238E27FC236}">
                <a16:creationId xmlns:a16="http://schemas.microsoft.com/office/drawing/2014/main" id="{21779091-60BA-DCC8-D152-B9D41663B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290" y="5543180"/>
            <a:ext cx="13620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Lambda function</a:t>
            </a:r>
          </a:p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(Lex Fulfillment)</a:t>
            </a:r>
          </a:p>
        </p:txBody>
      </p:sp>
      <p:grpSp>
        <p:nvGrpSpPr>
          <p:cNvPr id="111" name="Group 110" descr="Orbit group.">
            <a:extLst>
              <a:ext uri="{FF2B5EF4-FFF2-40B4-BE49-F238E27FC236}">
                <a16:creationId xmlns:a16="http://schemas.microsoft.com/office/drawing/2014/main" id="{614A5C32-E2C2-89FD-6100-3116E406FBC7}"/>
              </a:ext>
            </a:extLst>
          </p:cNvPr>
          <p:cNvGrpSpPr/>
          <p:nvPr/>
        </p:nvGrpSpPr>
        <p:grpSpPr>
          <a:xfrm>
            <a:off x="4694652" y="225824"/>
            <a:ext cx="4242871" cy="1038518"/>
            <a:chOff x="5326419" y="2616415"/>
            <a:chExt cx="4242871" cy="1038518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02B0322-2A2C-A5C5-FAB3-38A0EFA6C05C}"/>
                </a:ext>
              </a:extLst>
            </p:cNvPr>
            <p:cNvSpPr/>
            <p:nvPr/>
          </p:nvSpPr>
          <p:spPr>
            <a:xfrm>
              <a:off x="5326420" y="2616415"/>
              <a:ext cx="4242870" cy="1038518"/>
            </a:xfrm>
            <a:prstGeom prst="rect">
              <a:avLst/>
            </a:prstGeom>
            <a:noFill/>
            <a:ln w="15875">
              <a:solidFill>
                <a:srgbClr val="01A88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AI Services</a:t>
              </a:r>
            </a:p>
          </p:txBody>
        </p:sp>
        <p:pic>
          <p:nvPicPr>
            <p:cNvPr id="113" name="Graphic 112" descr="Graphic icon.">
              <a:extLst>
                <a:ext uri="{FF2B5EF4-FFF2-40B4-BE49-F238E27FC236}">
                  <a16:creationId xmlns:a16="http://schemas.microsoft.com/office/drawing/2014/main" id="{AA6174A5-4D00-3717-5F87-F3AC0A29E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/>
            <a:stretch/>
          </p:blipFill>
          <p:spPr>
            <a:xfrm>
              <a:off x="5326419" y="2625943"/>
              <a:ext cx="381000" cy="381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5CEEE41-7049-01AD-365F-BE7345BBF847}"/>
              </a:ext>
            </a:extLst>
          </p:cNvPr>
          <p:cNvGrpSpPr/>
          <p:nvPr/>
        </p:nvGrpSpPr>
        <p:grpSpPr>
          <a:xfrm>
            <a:off x="1767041" y="3359000"/>
            <a:ext cx="1842846" cy="889002"/>
            <a:chOff x="1781375" y="2791856"/>
            <a:chExt cx="1842846" cy="88900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B9E437-EC97-2888-0E07-40FCFABB6831}"/>
                </a:ext>
              </a:extLst>
            </p:cNvPr>
            <p:cNvSpPr txBox="1"/>
            <p:nvPr/>
          </p:nvSpPr>
          <p:spPr>
            <a:xfrm>
              <a:off x="1781375" y="3356636"/>
              <a:ext cx="184284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1000" b="1" i="0" dirty="0">
                  <a:solidFill>
                    <a:schemeClr val="bg2">
                      <a:lumMod val="50000"/>
                    </a:schemeClr>
                  </a:solidFill>
                  <a:effectLst/>
                  <a:latin typeface="Monaspace Neon"/>
                </a:rPr>
                <a:t>dnes10oz5czsk.cloudfront.net</a:t>
              </a: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52CF450F-30CB-39AF-61DC-76CF86B70EDA}"/>
                </a:ext>
              </a:extLst>
            </p:cNvPr>
            <p:cNvGrpSpPr/>
            <p:nvPr/>
          </p:nvGrpSpPr>
          <p:grpSpPr>
            <a:xfrm>
              <a:off x="1833260" y="2791856"/>
              <a:ext cx="1765419" cy="889002"/>
              <a:chOff x="855855" y="2412389"/>
              <a:chExt cx="1765419" cy="889002"/>
            </a:xfrm>
          </p:grpSpPr>
          <p:pic>
            <p:nvPicPr>
              <p:cNvPr id="115" name="Graphic 19" descr="Amazon CloudFront service icon.">
                <a:extLst>
                  <a:ext uri="{FF2B5EF4-FFF2-40B4-BE49-F238E27FC236}">
                    <a16:creationId xmlns:a16="http://schemas.microsoft.com/office/drawing/2014/main" id="{14599666-4209-628E-35C3-00A76371ED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rcRect/>
              <a:stretch/>
            </p:blipFill>
            <p:spPr bwMode="auto">
              <a:xfrm>
                <a:off x="855855" y="2418246"/>
                <a:ext cx="414841" cy="4148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F7F71E8A-9DB9-0656-B1AA-7F2B2E37AD69}"/>
                  </a:ext>
                </a:extLst>
              </p:cNvPr>
              <p:cNvSpPr/>
              <p:nvPr/>
            </p:nvSpPr>
            <p:spPr>
              <a:xfrm>
                <a:off x="855974" y="2412389"/>
                <a:ext cx="1765300" cy="889002"/>
              </a:xfrm>
              <a:prstGeom prst="rect">
                <a:avLst/>
              </a:prstGeom>
              <a:noFill/>
              <a:ln w="15875">
                <a:solidFill>
                  <a:srgbClr val="8C4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n w="0"/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CloudFront</a:t>
                </a:r>
              </a:p>
            </p:txBody>
          </p:sp>
        </p:grpSp>
      </p:grpSp>
      <p:pic>
        <p:nvPicPr>
          <p:cNvPr id="126" name="Graphic 23" descr="Amazon Lex service icon.">
            <a:extLst>
              <a:ext uri="{FF2B5EF4-FFF2-40B4-BE49-F238E27FC236}">
                <a16:creationId xmlns:a16="http://schemas.microsoft.com/office/drawing/2014/main" id="{62690F6F-EA67-5114-5E73-E77318BCF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6436100" y="300651"/>
            <a:ext cx="631403" cy="63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7" name="TextBox 15">
            <a:extLst>
              <a:ext uri="{FF2B5EF4-FFF2-40B4-BE49-F238E27FC236}">
                <a16:creationId xmlns:a16="http://schemas.microsoft.com/office/drawing/2014/main" id="{9D1A6917-9EDC-EAFE-85E4-8AAE207B5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5144" y="940108"/>
            <a:ext cx="22018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Lex</a:t>
            </a:r>
          </a:p>
        </p:txBody>
      </p:sp>
      <p:pic>
        <p:nvPicPr>
          <p:cNvPr id="128" name="Graphic 17" descr="Amazon Comprehend service icon.">
            <a:extLst>
              <a:ext uri="{FF2B5EF4-FFF2-40B4-BE49-F238E27FC236}">
                <a16:creationId xmlns:a16="http://schemas.microsoft.com/office/drawing/2014/main" id="{2500F41D-2521-5923-141F-3996D5F76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7755752" y="307726"/>
            <a:ext cx="619880" cy="61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" name="TextBox 9">
            <a:extLst>
              <a:ext uri="{FF2B5EF4-FFF2-40B4-BE49-F238E27FC236}">
                <a16:creationId xmlns:a16="http://schemas.microsoft.com/office/drawing/2014/main" id="{9FD7C931-77F8-CEAE-2D74-83F907219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7555" y="949578"/>
            <a:ext cx="2243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Comprehend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90105AD-6059-6BD2-3D22-5B9BA63BF807}"/>
              </a:ext>
            </a:extLst>
          </p:cNvPr>
          <p:cNvSpPr txBox="1"/>
          <p:nvPr/>
        </p:nvSpPr>
        <p:spPr>
          <a:xfrm>
            <a:off x="11258075" y="6611779"/>
            <a:ext cx="10436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  <a:hlinkClick r:id="rId34"/>
              </a:rPr>
              <a:t>Assorted Icons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45" name="Elbow Connector 144">
            <a:extLst>
              <a:ext uri="{FF2B5EF4-FFF2-40B4-BE49-F238E27FC236}">
                <a16:creationId xmlns:a16="http://schemas.microsoft.com/office/drawing/2014/main" id="{4F4FD18E-0536-A8D1-B509-CE853BAE5286}"/>
              </a:ext>
            </a:extLst>
          </p:cNvPr>
          <p:cNvCxnSpPr>
            <a:cxnSpLocks/>
            <a:stCxn id="92" idx="1"/>
            <a:endCxn id="67" idx="0"/>
          </p:cNvCxnSpPr>
          <p:nvPr/>
        </p:nvCxnSpPr>
        <p:spPr>
          <a:xfrm rot="10800000" flipV="1">
            <a:off x="2981590" y="4141380"/>
            <a:ext cx="1479204" cy="483329"/>
          </a:xfrm>
          <a:prstGeom prst="bentConnector2">
            <a:avLst/>
          </a:prstGeom>
          <a:ln w="254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1DDB2F15-0F08-01DB-5FB5-FB9318C381CA}"/>
              </a:ext>
            </a:extLst>
          </p:cNvPr>
          <p:cNvSpPr txBox="1"/>
          <p:nvPr/>
        </p:nvSpPr>
        <p:spPr>
          <a:xfrm>
            <a:off x="2957437" y="4285818"/>
            <a:ext cx="650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HTTPS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843E52F-F89D-4278-FE31-2C9D338D8EA2}"/>
              </a:ext>
            </a:extLst>
          </p:cNvPr>
          <p:cNvSpPr txBox="1"/>
          <p:nvPr/>
        </p:nvSpPr>
        <p:spPr>
          <a:xfrm>
            <a:off x="5640613" y="3648711"/>
            <a:ext cx="782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Time Series</a:t>
            </a:r>
          </a:p>
          <a:p>
            <a:pPr algn="ctr"/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Forecaster</a:t>
            </a:r>
          </a:p>
        </p:txBody>
      </p:sp>
      <p:pic>
        <p:nvPicPr>
          <p:cNvPr id="151" name="Picture 15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EBA86D3-62DB-37A1-AE4B-9D0E4BCAEDF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90090" y="3141719"/>
            <a:ext cx="494925" cy="494925"/>
          </a:xfrm>
          <a:prstGeom prst="rect">
            <a:avLst/>
          </a:prstGeom>
          <a:ln w="28575">
            <a:solidFill>
              <a:schemeClr val="bg2">
                <a:lumMod val="50000"/>
              </a:schemeClr>
            </a:solidFill>
          </a:ln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4D72B5E5-AAAD-12D1-DBEF-835E62C0FE21}"/>
              </a:ext>
            </a:extLst>
          </p:cNvPr>
          <p:cNvSpPr txBox="1"/>
          <p:nvPr/>
        </p:nvSpPr>
        <p:spPr>
          <a:xfrm>
            <a:off x="8384691" y="5678968"/>
            <a:ext cx="20609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113"/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Tables:</a:t>
            </a:r>
          </a:p>
          <a:p>
            <a:pPr marL="115888" indent="-1047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Companies (Tickers, Aliases)</a:t>
            </a:r>
          </a:p>
          <a:p>
            <a:pPr marL="115888" indent="-1047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Sentiment Cache</a:t>
            </a:r>
          </a:p>
          <a:p>
            <a:pPr marL="115888" indent="-1047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Forecast Cache</a:t>
            </a:r>
          </a:p>
          <a:p>
            <a:pPr marL="115888" indent="-1047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Growth Cache</a:t>
            </a:r>
          </a:p>
        </p:txBody>
      </p:sp>
      <p:cxnSp>
        <p:nvCxnSpPr>
          <p:cNvPr id="154" name="Elbow Connector 153">
            <a:extLst>
              <a:ext uri="{FF2B5EF4-FFF2-40B4-BE49-F238E27FC236}">
                <a16:creationId xmlns:a16="http://schemas.microsoft.com/office/drawing/2014/main" id="{B109DEFA-388F-3FF4-2F16-0BED9718561D}"/>
              </a:ext>
            </a:extLst>
          </p:cNvPr>
          <p:cNvCxnSpPr>
            <a:cxnSpLocks/>
            <a:stCxn id="169" idx="1"/>
            <a:endCxn id="88" idx="3"/>
          </p:cNvCxnSpPr>
          <p:nvPr/>
        </p:nvCxnSpPr>
        <p:spPr>
          <a:xfrm rot="10800000">
            <a:off x="6947556" y="3491820"/>
            <a:ext cx="1399540" cy="1580340"/>
          </a:xfrm>
          <a:prstGeom prst="bentConnector3">
            <a:avLst>
              <a:gd name="adj1" fmla="val 78584"/>
            </a:avLst>
          </a:prstGeom>
          <a:ln w="254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6E4B4772-35C2-D239-CFED-BBCADC48F68E}"/>
              </a:ext>
            </a:extLst>
          </p:cNvPr>
          <p:cNvCxnSpPr>
            <a:cxnSpLocks/>
            <a:stCxn id="99" idx="3"/>
            <a:endCxn id="88" idx="3"/>
          </p:cNvCxnSpPr>
          <p:nvPr/>
        </p:nvCxnSpPr>
        <p:spPr>
          <a:xfrm flipV="1">
            <a:off x="6466051" y="3491820"/>
            <a:ext cx="481505" cy="1869034"/>
          </a:xfrm>
          <a:prstGeom prst="bentConnector3">
            <a:avLst>
              <a:gd name="adj1" fmla="val 147476"/>
            </a:avLst>
          </a:prstGeom>
          <a:ln w="254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FCFA71A9-30C4-0181-45F0-01F35EAB748D}"/>
              </a:ext>
            </a:extLst>
          </p:cNvPr>
          <p:cNvSpPr/>
          <p:nvPr/>
        </p:nvSpPr>
        <p:spPr>
          <a:xfrm>
            <a:off x="2981589" y="4141380"/>
            <a:ext cx="657309" cy="20664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via</a:t>
            </a:r>
          </a:p>
        </p:txBody>
      </p:sp>
      <p:sp>
        <p:nvSpPr>
          <p:cNvPr id="167" name="Rectangle 166" descr="Security group.">
            <a:extLst>
              <a:ext uri="{FF2B5EF4-FFF2-40B4-BE49-F238E27FC236}">
                <a16:creationId xmlns:a16="http://schemas.microsoft.com/office/drawing/2014/main" id="{7AAD219D-2E9E-540D-2E0C-4944D43F8E5B}"/>
              </a:ext>
            </a:extLst>
          </p:cNvPr>
          <p:cNvSpPr/>
          <p:nvPr/>
        </p:nvSpPr>
        <p:spPr>
          <a:xfrm>
            <a:off x="8293904" y="4942572"/>
            <a:ext cx="2060949" cy="1719485"/>
          </a:xfrm>
          <a:prstGeom prst="rect">
            <a:avLst/>
          </a:prstGeom>
          <a:noFill/>
          <a:ln w="15875">
            <a:solidFill>
              <a:srgbClr val="DD344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label4">
            <a:extLst>
              <a:ext uri="{FF2B5EF4-FFF2-40B4-BE49-F238E27FC236}">
                <a16:creationId xmlns:a16="http://schemas.microsoft.com/office/drawing/2014/main" id="{64094625-F448-8CB9-863C-08A26E8D9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7096" y="4941355"/>
            <a:ext cx="192086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 (</a:t>
            </a:r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rds</a:t>
            </a: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-sg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71" name="label4">
            <a:extLst>
              <a:ext uri="{FF2B5EF4-FFF2-40B4-BE49-F238E27FC236}">
                <a16:creationId xmlns:a16="http://schemas.microsoft.com/office/drawing/2014/main" id="{AE4A377C-589C-7605-A354-EA05DE01E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1459" y="5522291"/>
            <a:ext cx="144517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 (</a:t>
            </a: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lambda-sg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78" name="Elbow Connector 177">
            <a:extLst>
              <a:ext uri="{FF2B5EF4-FFF2-40B4-BE49-F238E27FC236}">
                <a16:creationId xmlns:a16="http://schemas.microsoft.com/office/drawing/2014/main" id="{713A90FD-3C83-9BEC-1683-D3161AADE8C1}"/>
              </a:ext>
            </a:extLst>
          </p:cNvPr>
          <p:cNvCxnSpPr>
            <a:cxnSpLocks/>
            <a:stCxn id="109" idx="3"/>
          </p:cNvCxnSpPr>
          <p:nvPr/>
        </p:nvCxnSpPr>
        <p:spPr>
          <a:xfrm flipH="1" flipV="1">
            <a:off x="6024685" y="4244355"/>
            <a:ext cx="327844" cy="1533845"/>
          </a:xfrm>
          <a:prstGeom prst="bentConnector4">
            <a:avLst>
              <a:gd name="adj1" fmla="val -147204"/>
              <a:gd name="adj2" fmla="val 86431"/>
            </a:avLst>
          </a:prstGeom>
          <a:ln w="25400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PSgroup" descr="Public subnet group inside VPC cloud group and in the AZ group.">
            <a:extLst>
              <a:ext uri="{FF2B5EF4-FFF2-40B4-BE49-F238E27FC236}">
                <a16:creationId xmlns:a16="http://schemas.microsoft.com/office/drawing/2014/main" id="{8A2A5ED9-7C02-1633-CD6B-E0C86E0915FE}"/>
              </a:ext>
            </a:extLst>
          </p:cNvPr>
          <p:cNvGrpSpPr/>
          <p:nvPr/>
        </p:nvGrpSpPr>
        <p:grpSpPr>
          <a:xfrm>
            <a:off x="4188820" y="6132116"/>
            <a:ext cx="2777087" cy="576971"/>
            <a:chOff x="4794250" y="2652686"/>
            <a:chExt cx="2777087" cy="576971"/>
          </a:xfrm>
        </p:grpSpPr>
        <p:sp>
          <p:nvSpPr>
            <p:cNvPr id="24" name="Rectangle 23" descr="Public subnet group border.">
              <a:extLst>
                <a:ext uri="{FF2B5EF4-FFF2-40B4-BE49-F238E27FC236}">
                  <a16:creationId xmlns:a16="http://schemas.microsoft.com/office/drawing/2014/main" id="{546EC933-7262-9BCD-740C-93147DDFB348}"/>
                </a:ext>
              </a:extLst>
            </p:cNvPr>
            <p:cNvSpPr/>
            <p:nvPr/>
          </p:nvSpPr>
          <p:spPr>
            <a:xfrm>
              <a:off x="4794251" y="2652687"/>
              <a:ext cx="2777086" cy="576970"/>
            </a:xfrm>
            <a:prstGeom prst="rect">
              <a:avLst/>
            </a:prstGeom>
            <a:noFill/>
            <a:ln w="15875" cmpd="sng">
              <a:solidFill>
                <a:srgbClr val="7AA11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Public subnet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10.0.1.0/24</a:t>
              </a:r>
            </a:p>
          </p:txBody>
        </p:sp>
        <p:pic>
          <p:nvPicPr>
            <p:cNvPr id="25" name="Graphic 24" descr="Public subnet group icon.">
              <a:extLst>
                <a:ext uri="{FF2B5EF4-FFF2-40B4-BE49-F238E27FC236}">
                  <a16:creationId xmlns:a16="http://schemas.microsoft.com/office/drawing/2014/main" id="{61BFCA0E-9023-A14D-5FEC-FDADFCA71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4794250" y="2652686"/>
              <a:ext cx="381000" cy="381000"/>
            </a:xfrm>
            <a:prstGeom prst="rect">
              <a:avLst/>
            </a:prstGeom>
          </p:spPr>
        </p:pic>
      </p:grpSp>
      <p:pic>
        <p:nvPicPr>
          <p:cNvPr id="27" name="Graphic 26" descr="Construction worker male with solid fill">
            <a:extLst>
              <a:ext uri="{FF2B5EF4-FFF2-40B4-BE49-F238E27FC236}">
                <a16:creationId xmlns:a16="http://schemas.microsoft.com/office/drawing/2014/main" id="{F203CD64-A48F-287C-E028-6FE7577DD4D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682554" y="3633296"/>
            <a:ext cx="207804" cy="207804"/>
          </a:xfrm>
          <a:prstGeom prst="rect">
            <a:avLst/>
          </a:prstGeom>
        </p:spPr>
      </p:pic>
      <p:pic>
        <p:nvPicPr>
          <p:cNvPr id="31" name="Graphic 30" descr="Construction worker male with solid fill">
            <a:extLst>
              <a:ext uri="{FF2B5EF4-FFF2-40B4-BE49-F238E27FC236}">
                <a16:creationId xmlns:a16="http://schemas.microsoft.com/office/drawing/2014/main" id="{6DB746D1-B0C7-72B1-5249-79E46A99456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855189" y="3634837"/>
            <a:ext cx="207804" cy="20780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F90285EE-C8A7-B98D-0394-DC6E33BE16F9}"/>
              </a:ext>
            </a:extLst>
          </p:cNvPr>
          <p:cNvSpPr/>
          <p:nvPr/>
        </p:nvSpPr>
        <p:spPr>
          <a:xfrm>
            <a:off x="4694652" y="3638445"/>
            <a:ext cx="353513" cy="1986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241B0A-8F5B-17DE-5736-4F2589E50556}"/>
              </a:ext>
            </a:extLst>
          </p:cNvPr>
          <p:cNvSpPr txBox="1"/>
          <p:nvPr/>
        </p:nvSpPr>
        <p:spPr>
          <a:xfrm>
            <a:off x="4663373" y="3506352"/>
            <a:ext cx="4539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rgbClr val="002060"/>
                </a:solidFill>
              </a:rPr>
              <a:t>2 Workers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91D7E1E3-1AB8-38DA-4E4A-E042FADB1BAE}"/>
              </a:ext>
            </a:extLst>
          </p:cNvPr>
          <p:cNvCxnSpPr>
            <a:cxnSpLocks/>
            <a:stCxn id="110" idx="3"/>
            <a:endCxn id="103" idx="1"/>
          </p:cNvCxnSpPr>
          <p:nvPr/>
        </p:nvCxnSpPr>
        <p:spPr>
          <a:xfrm flipV="1">
            <a:off x="8077364" y="5461673"/>
            <a:ext cx="269732" cy="312340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 descr="Generic group.">
            <a:extLst>
              <a:ext uri="{FF2B5EF4-FFF2-40B4-BE49-F238E27FC236}">
                <a16:creationId xmlns:a16="http://schemas.microsoft.com/office/drawing/2014/main" id="{1DBBC6CE-D43C-F757-98A9-B053672E2733}"/>
              </a:ext>
            </a:extLst>
          </p:cNvPr>
          <p:cNvSpPr/>
          <p:nvPr/>
        </p:nvSpPr>
        <p:spPr>
          <a:xfrm>
            <a:off x="10668437" y="1946109"/>
            <a:ext cx="1453596" cy="532432"/>
          </a:xfrm>
          <a:prstGeom prst="rect">
            <a:avLst/>
          </a:prstGeom>
          <a:solidFill>
            <a:schemeClr val="tx1"/>
          </a:solidFill>
          <a:ln w="15875">
            <a:solidFill>
              <a:srgbClr val="7D899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Rectangle 136" descr="Generic group.">
            <a:extLst>
              <a:ext uri="{FF2B5EF4-FFF2-40B4-BE49-F238E27FC236}">
                <a16:creationId xmlns:a16="http://schemas.microsoft.com/office/drawing/2014/main" id="{5DC6CC92-0B5E-5A89-B55A-CDF7904348A3}"/>
              </a:ext>
            </a:extLst>
          </p:cNvPr>
          <p:cNvSpPr/>
          <p:nvPr/>
        </p:nvSpPr>
        <p:spPr>
          <a:xfrm>
            <a:off x="10668437" y="2628875"/>
            <a:ext cx="1453596" cy="532432"/>
          </a:xfrm>
          <a:prstGeom prst="rect">
            <a:avLst/>
          </a:prstGeom>
          <a:solidFill>
            <a:schemeClr val="tx1"/>
          </a:solidFill>
          <a:ln w="15875">
            <a:solidFill>
              <a:srgbClr val="7D899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Rectangle 139" descr="Generic group.">
            <a:extLst>
              <a:ext uri="{FF2B5EF4-FFF2-40B4-BE49-F238E27FC236}">
                <a16:creationId xmlns:a16="http://schemas.microsoft.com/office/drawing/2014/main" id="{0EDCFDC0-DD82-D064-60D9-6CC88E9697E0}"/>
              </a:ext>
            </a:extLst>
          </p:cNvPr>
          <p:cNvSpPr/>
          <p:nvPr/>
        </p:nvSpPr>
        <p:spPr>
          <a:xfrm>
            <a:off x="10668437" y="3316752"/>
            <a:ext cx="1453596" cy="532432"/>
          </a:xfrm>
          <a:prstGeom prst="rect">
            <a:avLst/>
          </a:prstGeom>
          <a:solidFill>
            <a:schemeClr val="tx1"/>
          </a:solidFill>
          <a:ln w="15875">
            <a:solidFill>
              <a:srgbClr val="7D899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Rectangle 142" descr="Generic group.">
            <a:extLst>
              <a:ext uri="{FF2B5EF4-FFF2-40B4-BE49-F238E27FC236}">
                <a16:creationId xmlns:a16="http://schemas.microsoft.com/office/drawing/2014/main" id="{50643C89-A910-A565-9873-0D7ADFC32E1E}"/>
              </a:ext>
            </a:extLst>
          </p:cNvPr>
          <p:cNvSpPr/>
          <p:nvPr/>
        </p:nvSpPr>
        <p:spPr>
          <a:xfrm>
            <a:off x="10668437" y="3958115"/>
            <a:ext cx="1453596" cy="532432"/>
          </a:xfrm>
          <a:prstGeom prst="rect">
            <a:avLst/>
          </a:prstGeom>
          <a:solidFill>
            <a:schemeClr val="tx1"/>
          </a:solidFill>
          <a:ln w="15875">
            <a:solidFill>
              <a:srgbClr val="7D899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" name="Picture 1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DE213F4-B7EC-67D8-317A-AE08CA45549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734402" y="2052036"/>
            <a:ext cx="318352" cy="318352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49729B34-F174-F3A9-D263-BAA28A9EFE05}"/>
              </a:ext>
            </a:extLst>
          </p:cNvPr>
          <p:cNvSpPr txBox="1"/>
          <p:nvPr/>
        </p:nvSpPr>
        <p:spPr>
          <a:xfrm>
            <a:off x="11001952" y="1997100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 Edgar</a:t>
            </a:r>
          </a:p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(10-K, 10-Q)</a:t>
            </a:r>
          </a:p>
        </p:txBody>
      </p:sp>
      <p:pic>
        <p:nvPicPr>
          <p:cNvPr id="136" name="Picture 1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6F85F5B-567F-2458-352C-E423829743D7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734402" y="2734802"/>
            <a:ext cx="318352" cy="318352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58969635-8FAE-764A-9094-BBE6724DEA57}"/>
              </a:ext>
            </a:extLst>
          </p:cNvPr>
          <p:cNvSpPr txBox="1"/>
          <p:nvPr/>
        </p:nvSpPr>
        <p:spPr>
          <a:xfrm>
            <a:off x="10963207" y="2679866"/>
            <a:ext cx="1203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Yahoo Finance</a:t>
            </a:r>
          </a:p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(Stock Data)</a:t>
            </a:r>
          </a:p>
        </p:txBody>
      </p:sp>
      <p:pic>
        <p:nvPicPr>
          <p:cNvPr id="139" name="Picture 13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B624CFC-70CE-8AFB-6DDE-6827F801217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734402" y="3422679"/>
            <a:ext cx="318352" cy="318352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F4298B26-7B07-1B35-2D9B-718F38CDB7C5}"/>
              </a:ext>
            </a:extLst>
          </p:cNvPr>
          <p:cNvSpPr txBox="1"/>
          <p:nvPr/>
        </p:nvSpPr>
        <p:spPr>
          <a:xfrm>
            <a:off x="11001952" y="3367743"/>
            <a:ext cx="11592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Explorium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(Company Growth)</a:t>
            </a:r>
          </a:p>
        </p:txBody>
      </p:sp>
      <p:pic>
        <p:nvPicPr>
          <p:cNvPr id="142" name="Picture 14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730CB7C-D695-18B1-AFD3-839AD961F46F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734402" y="4051146"/>
            <a:ext cx="318352" cy="318352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A65188CD-441F-58BD-9323-985C7661D991}"/>
              </a:ext>
            </a:extLst>
          </p:cNvPr>
          <p:cNvSpPr txBox="1"/>
          <p:nvPr/>
        </p:nvSpPr>
        <p:spPr>
          <a:xfrm>
            <a:off x="11001952" y="4009106"/>
            <a:ext cx="1178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 Vantage</a:t>
            </a:r>
          </a:p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(Transcripts)</a:t>
            </a: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6059F208-1746-F2EE-4D66-36247A8DB2B5}"/>
              </a:ext>
            </a:extLst>
          </p:cNvPr>
          <p:cNvCxnSpPr>
            <a:cxnSpLocks/>
          </p:cNvCxnSpPr>
          <p:nvPr/>
        </p:nvCxnSpPr>
        <p:spPr>
          <a:xfrm flipV="1">
            <a:off x="6715290" y="1323950"/>
            <a:ext cx="3921688" cy="1629416"/>
          </a:xfrm>
          <a:prstGeom prst="bentConnector3">
            <a:avLst>
              <a:gd name="adj1" fmla="val 6840"/>
            </a:avLst>
          </a:prstGeom>
          <a:ln w="25400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3E3A08A1-89EF-38A1-3AA3-BE5F38BD3BCC}"/>
              </a:ext>
            </a:extLst>
          </p:cNvPr>
          <p:cNvSpPr/>
          <p:nvPr/>
        </p:nvSpPr>
        <p:spPr>
          <a:xfrm>
            <a:off x="6787305" y="1347730"/>
            <a:ext cx="399399" cy="3834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 descr="Internet gateway service icon on VPC container.">
            <a:extLst>
              <a:ext uri="{FF2B5EF4-FFF2-40B4-BE49-F238E27FC236}">
                <a16:creationId xmlns:a16="http://schemas.microsoft.com/office/drawing/2014/main" id="{8C37DD82-4B9C-DD9D-5566-5449C4DDFB7B}"/>
              </a:ext>
            </a:extLst>
          </p:cNvPr>
          <p:cNvGrpSpPr/>
          <p:nvPr/>
        </p:nvGrpSpPr>
        <p:grpSpPr>
          <a:xfrm>
            <a:off x="6291824" y="1313026"/>
            <a:ext cx="1403350" cy="734199"/>
            <a:chOff x="7328508" y="1855841"/>
            <a:chExt cx="1403350" cy="734199"/>
          </a:xfrm>
        </p:grpSpPr>
        <p:pic>
          <p:nvPicPr>
            <p:cNvPr id="60" name="Graphic 10" descr="Internet gateway resource icon for the Amazon VPC service.">
              <a:extLst>
                <a:ext uri="{FF2B5EF4-FFF2-40B4-BE49-F238E27FC236}">
                  <a16:creationId xmlns:a16="http://schemas.microsoft.com/office/drawing/2014/main" id="{7D93AE3D-A9B9-74A6-EDEB-4625C3127D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rcRect/>
            <a:stretch/>
          </p:blipFill>
          <p:spPr bwMode="auto">
            <a:xfrm>
              <a:off x="7799044" y="1855841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TextBox 12">
              <a:extLst>
                <a:ext uri="{FF2B5EF4-FFF2-40B4-BE49-F238E27FC236}">
                  <a16:creationId xmlns:a16="http://schemas.microsoft.com/office/drawing/2014/main" id="{4C421A4E-BCFC-C740-30E8-4B220BB6B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8508" y="2313041"/>
              <a:ext cx="14033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solidFill>
                    <a:schemeClr val="bg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Internet gateway</a:t>
              </a:r>
            </a:p>
          </p:txBody>
        </p:sp>
      </p:grp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1FAE3041-ABB4-4865-1AB8-44D54D6B3224}"/>
              </a:ext>
            </a:extLst>
          </p:cNvPr>
          <p:cNvCxnSpPr>
            <a:cxnSpLocks/>
            <a:endCxn id="126" idx="1"/>
          </p:cNvCxnSpPr>
          <p:nvPr/>
        </p:nvCxnSpPr>
        <p:spPr>
          <a:xfrm rot="16200000" flipV="1">
            <a:off x="5542236" y="1510217"/>
            <a:ext cx="2334922" cy="547193"/>
          </a:xfrm>
          <a:prstGeom prst="bentConnector4">
            <a:avLst>
              <a:gd name="adj1" fmla="val 69769"/>
              <a:gd name="adj2" fmla="val 141777"/>
            </a:avLst>
          </a:prstGeom>
          <a:ln w="25400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0473ECDD-1456-FCC9-49B9-41970946B360}"/>
              </a:ext>
            </a:extLst>
          </p:cNvPr>
          <p:cNvCxnSpPr>
            <a:cxnSpLocks/>
            <a:endCxn id="128" idx="3"/>
          </p:cNvCxnSpPr>
          <p:nvPr/>
        </p:nvCxnSpPr>
        <p:spPr>
          <a:xfrm rot="5400000" flipH="1" flipV="1">
            <a:off x="6517367" y="1100119"/>
            <a:ext cx="2340718" cy="1375812"/>
          </a:xfrm>
          <a:prstGeom prst="bentConnector4">
            <a:avLst>
              <a:gd name="adj1" fmla="val 69212"/>
              <a:gd name="adj2" fmla="val 133768"/>
            </a:avLst>
          </a:prstGeom>
          <a:ln w="25400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AD81C6DB-FBAC-2A61-0478-F19A1BD14070}"/>
              </a:ext>
            </a:extLst>
          </p:cNvPr>
          <p:cNvSpPr/>
          <p:nvPr/>
        </p:nvSpPr>
        <p:spPr>
          <a:xfrm>
            <a:off x="6688467" y="2028894"/>
            <a:ext cx="474219" cy="17553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via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B829B620-D4C3-7814-E6C7-ED8368654692}"/>
              </a:ext>
            </a:extLst>
          </p:cNvPr>
          <p:cNvCxnSpPr/>
          <p:nvPr/>
        </p:nvCxnSpPr>
        <p:spPr>
          <a:xfrm>
            <a:off x="4129223" y="2028894"/>
            <a:ext cx="622563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982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D5CFB6-E5C2-47B7-B853-7CB3AA82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2"/>
            <a:ext cx="10131425" cy="1456267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Deployment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1F5A1E-F290-A93F-9B16-1E41F37CFCE0}"/>
              </a:ext>
            </a:extLst>
          </p:cNvPr>
          <p:cNvCxnSpPr>
            <a:cxnSpLocks/>
          </p:cNvCxnSpPr>
          <p:nvPr/>
        </p:nvCxnSpPr>
        <p:spPr>
          <a:xfrm>
            <a:off x="10088" y="0"/>
            <a:ext cx="0" cy="118498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1DE8C8-B88D-DC24-36BA-35781B67E760}"/>
              </a:ext>
            </a:extLst>
          </p:cNvPr>
          <p:cNvCxnSpPr/>
          <p:nvPr/>
        </p:nvCxnSpPr>
        <p:spPr>
          <a:xfrm>
            <a:off x="10088" y="5577840"/>
            <a:ext cx="12171824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746704-73DA-383B-A0BB-56DE5699BE3A}"/>
              </a:ext>
            </a:extLst>
          </p:cNvPr>
          <p:cNvCxnSpPr>
            <a:cxnSpLocks/>
          </p:cNvCxnSpPr>
          <p:nvPr/>
        </p:nvCxnSpPr>
        <p:spPr>
          <a:xfrm flipV="1">
            <a:off x="872599" y="4971214"/>
            <a:ext cx="0" cy="583927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iamond 13">
            <a:extLst>
              <a:ext uri="{FF2B5EF4-FFF2-40B4-BE49-F238E27FC236}">
                <a16:creationId xmlns:a16="http://schemas.microsoft.com/office/drawing/2014/main" id="{31A84233-F674-DCB7-D11A-D3AA7FD3A495}"/>
              </a:ext>
            </a:extLst>
          </p:cNvPr>
          <p:cNvSpPr/>
          <p:nvPr/>
        </p:nvSpPr>
        <p:spPr>
          <a:xfrm>
            <a:off x="694858" y="4623780"/>
            <a:ext cx="355482" cy="35548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EE104E27-0270-6A12-4CDC-C14978A863B8}"/>
              </a:ext>
            </a:extLst>
          </p:cNvPr>
          <p:cNvSpPr/>
          <p:nvPr/>
        </p:nvSpPr>
        <p:spPr>
          <a:xfrm>
            <a:off x="6102010" y="4638430"/>
            <a:ext cx="355482" cy="35548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5907F719-AF8D-232D-585A-84C47B515E7F}"/>
              </a:ext>
            </a:extLst>
          </p:cNvPr>
          <p:cNvSpPr/>
          <p:nvPr/>
        </p:nvSpPr>
        <p:spPr>
          <a:xfrm>
            <a:off x="3114970" y="6125191"/>
            <a:ext cx="355482" cy="35548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34AFC214-5BE0-5C52-B28F-3ECA5172A417}"/>
              </a:ext>
            </a:extLst>
          </p:cNvPr>
          <p:cNvSpPr/>
          <p:nvPr/>
        </p:nvSpPr>
        <p:spPr>
          <a:xfrm>
            <a:off x="9093105" y="6172668"/>
            <a:ext cx="355482" cy="35548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C9C3B76-F2D7-02BB-21C2-A5EBDF937F00}"/>
              </a:ext>
            </a:extLst>
          </p:cNvPr>
          <p:cNvCxnSpPr>
            <a:cxnSpLocks/>
          </p:cNvCxnSpPr>
          <p:nvPr/>
        </p:nvCxnSpPr>
        <p:spPr>
          <a:xfrm flipV="1">
            <a:off x="3292711" y="5577840"/>
            <a:ext cx="0" cy="583927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555767F-EF2B-BE19-11EA-BDFEB9EB424B}"/>
              </a:ext>
            </a:extLst>
          </p:cNvPr>
          <p:cNvCxnSpPr>
            <a:cxnSpLocks/>
          </p:cNvCxnSpPr>
          <p:nvPr/>
        </p:nvCxnSpPr>
        <p:spPr>
          <a:xfrm flipV="1">
            <a:off x="6279751" y="4993913"/>
            <a:ext cx="0" cy="583927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F636FF-425B-A4BC-B1EE-62B13CC372E9}"/>
              </a:ext>
            </a:extLst>
          </p:cNvPr>
          <p:cNvCxnSpPr>
            <a:cxnSpLocks/>
          </p:cNvCxnSpPr>
          <p:nvPr/>
        </p:nvCxnSpPr>
        <p:spPr>
          <a:xfrm flipV="1">
            <a:off x="9252558" y="5583291"/>
            <a:ext cx="0" cy="583927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7647030-DA5D-115D-D2CA-36ED1BC53C34}"/>
              </a:ext>
            </a:extLst>
          </p:cNvPr>
          <p:cNvSpPr txBox="1"/>
          <p:nvPr/>
        </p:nvSpPr>
        <p:spPr>
          <a:xfrm>
            <a:off x="1106075" y="4530554"/>
            <a:ext cx="6199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Local Development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3E021B-B998-145D-5344-F3EF8C870623}"/>
              </a:ext>
            </a:extLst>
          </p:cNvPr>
          <p:cNvSpPr txBox="1"/>
          <p:nvPr/>
        </p:nvSpPr>
        <p:spPr>
          <a:xfrm>
            <a:off x="1106075" y="4904296"/>
            <a:ext cx="26804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Local App Version Developed in </a:t>
            </a:r>
            <a:r>
              <a:rPr lang="en-US" sz="1600" dirty="0" err="1"/>
              <a:t>VSCode</a:t>
            </a:r>
            <a:r>
              <a:rPr lang="en-US" sz="1600" dirty="0"/>
              <a:t> with Claude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505359-0BF3-4EDC-B99D-C67E231D1440}"/>
              </a:ext>
            </a:extLst>
          </p:cNvPr>
          <p:cNvSpPr txBox="1"/>
          <p:nvPr/>
        </p:nvSpPr>
        <p:spPr>
          <a:xfrm>
            <a:off x="3599342" y="5769737"/>
            <a:ext cx="6199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Conversion to Cloud Hosted Version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31ED20-57E1-2DAD-D8DC-552681B54572}"/>
              </a:ext>
            </a:extLst>
          </p:cNvPr>
          <p:cNvSpPr txBox="1"/>
          <p:nvPr/>
        </p:nvSpPr>
        <p:spPr>
          <a:xfrm>
            <a:off x="3599342" y="6143479"/>
            <a:ext cx="26804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Develop deployment using Terraform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250200-6783-6FBF-0CE4-EEE8B0DF1FB2}"/>
              </a:ext>
            </a:extLst>
          </p:cNvPr>
          <p:cNvSpPr txBox="1"/>
          <p:nvPr/>
        </p:nvSpPr>
        <p:spPr>
          <a:xfrm>
            <a:off x="6589164" y="4519974"/>
            <a:ext cx="6199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Build and Test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647B2D-D652-0AD8-6ACA-A20EE3863991}"/>
              </a:ext>
            </a:extLst>
          </p:cNvPr>
          <p:cNvSpPr txBox="1"/>
          <p:nvPr/>
        </p:nvSpPr>
        <p:spPr>
          <a:xfrm>
            <a:off x="6589164" y="4868616"/>
            <a:ext cx="26804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Application is built and tested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9EE1BD-AAFB-7AD1-8F3D-D0FC42CF9205}"/>
              </a:ext>
            </a:extLst>
          </p:cNvPr>
          <p:cNvSpPr txBox="1"/>
          <p:nvPr/>
        </p:nvSpPr>
        <p:spPr>
          <a:xfrm>
            <a:off x="9559188" y="5803336"/>
            <a:ext cx="6199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Git Documentation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282A01-962A-63BC-A6FD-6F47980C2EE8}"/>
              </a:ext>
            </a:extLst>
          </p:cNvPr>
          <p:cNvSpPr txBox="1"/>
          <p:nvPr/>
        </p:nvSpPr>
        <p:spPr>
          <a:xfrm>
            <a:off x="9559188" y="6139069"/>
            <a:ext cx="26804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Successful build documented on GitHub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4F5B6-8B99-3829-48CC-F200C09D8106}"/>
              </a:ext>
            </a:extLst>
          </p:cNvPr>
          <p:cNvSpPr txBox="1"/>
          <p:nvPr/>
        </p:nvSpPr>
        <p:spPr>
          <a:xfrm>
            <a:off x="218838" y="3672972"/>
            <a:ext cx="7974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</a:t>
            </a:r>
            <a:r>
              <a:rPr lang="en-US" sz="2400" dirty="0" err="1"/>
              <a:t>github.com</a:t>
            </a:r>
            <a:r>
              <a:rPr lang="en-US" sz="2400" dirty="0"/>
              <a:t>/kd365/cyber-risk-dashboard/tree/main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F94FFC-5369-8485-AF86-1AEFC8D23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866" y="212048"/>
            <a:ext cx="5948082" cy="329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50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17F0C1-BCBB-40C7-99D6-F703E7A4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A5D8BC-B41A-4E96-91C4-D60F5162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321D5F-FA18-4271-9EAA-0BEA1411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06B341-7F52-CE5F-DDFD-5121FC075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Demo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51287385-D3EA-47A8-A127-6061791A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BF3076-0203-F9EC-8806-5562B8057AEB}"/>
              </a:ext>
            </a:extLst>
          </p:cNvPr>
          <p:cNvSpPr/>
          <p:nvPr/>
        </p:nvSpPr>
        <p:spPr>
          <a:xfrm>
            <a:off x="5577840" y="1353312"/>
            <a:ext cx="6199632" cy="380390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10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00D64-BA04-E1C0-8F17-9BC463A6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7BCE2-4CB7-5A46-4701-690E28E74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06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1185</TotalTime>
  <Words>756</Words>
  <Application>Microsoft Macintosh PowerPoint</Application>
  <PresentationFormat>Widescreen</PresentationFormat>
  <Paragraphs>150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Courier New</vt:lpstr>
      <vt:lpstr>Google Sans Text</vt:lpstr>
      <vt:lpstr>Monaspace Neon</vt:lpstr>
      <vt:lpstr>Times New Roman</vt:lpstr>
      <vt:lpstr>Wingdings</vt:lpstr>
      <vt:lpstr>Celestial</vt:lpstr>
      <vt:lpstr>DevSecOps Application Deployment with AWS AI Integration</vt:lpstr>
      <vt:lpstr>Application Overview</vt:lpstr>
      <vt:lpstr>AWS AI INTEGRATION</vt:lpstr>
      <vt:lpstr>Capability Development</vt:lpstr>
      <vt:lpstr>Capability Development</vt:lpstr>
      <vt:lpstr>PowerPoint Presentation</vt:lpstr>
      <vt:lpstr>GitHub Deployment</vt:lpstr>
      <vt:lpstr>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Kathleen Hill</dc:creator>
  <cp:lastModifiedBy>Kathleen Hill</cp:lastModifiedBy>
  <cp:revision>2</cp:revision>
  <dcterms:created xsi:type="dcterms:W3CDTF">2025-12-21T17:50:54Z</dcterms:created>
  <dcterms:modified xsi:type="dcterms:W3CDTF">2026-01-20T16:57:50Z</dcterms:modified>
</cp:coreProperties>
</file>